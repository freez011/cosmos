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9"/>
      </p:cViewPr>
      <p:guideLst/>
    </p:cSldViewPr>
  </p:slideViewPr>
  <p:notesTextViewPr>
    <p:cViewPr>
      <p:scale>
        <a:sx n="1" d="1"/>
        <a:sy n="1" d="1"/>
      </p:scale>
      <p:origin x="0" y="-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Всеволод: Здравствуйте! Наш проект посвящён Дню космонавтики.</a:t>
            </a:r>
          </a:p>
          <a:p>
            <a:r>
              <a:t>Мы решили выйти за рамки обычного реферата и сделали полноценный веб-сайт - цифровой музей.</a:t>
            </a:r>
          </a:p>
          <a:p>
            <a:r>
              <a:t>Космическая программа для нас стала примером национальной гордости, суверенитета и способности государства объединять людей ради большой цели.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Всеволод: Мы проектировали сайт так, чтобы информация не выглядела сухой.</a:t>
            </a:r>
          </a:p>
          <a:p>
            <a:r>
              <a:t>Контент разделён на четыре ключевых блока: Хроника, Летопись, Отряд и Документы.</a:t>
            </a:r>
          </a:p>
          <a:p>
            <a:r>
              <a:t>Дальше мы покажем, как через эти разделы раскрывается роль государства в космическом прорыве.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Сергей: В разделах Хроника и Летопись видно, что за каждым событием стоит огромная работа управленцев, инженеров и заводов.</a:t>
            </a:r>
          </a:p>
          <a:p>
            <a:r>
              <a:t>После войны страна всё равно принимает стратегическое решение вкладываться в науку и технологии будущего.</a:t>
            </a:r>
          </a:p>
          <a:p>
            <a:r>
              <a:t>Это хороший пример технологического суверенитета: страна сама создаёт сложнейшие вещи и не зависит от чужих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Сергей: Самый важный раздел сайта - Документы.</a:t>
            </a:r>
          </a:p>
          <a:p>
            <a:r>
              <a:t>Мы не хотели ограничиваться пересказом популярных статей, поэтому добавили реальные архивные материалы.</a:t>
            </a:r>
          </a:p>
          <a:p>
            <a:r>
              <a:t>Когда смотришь на эти документы, становится понятно: космос был не случайной удачей, а результатом точной координации государства, науки и промышленности.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Иван: В разделе Отряд мы собрали информацию о первых космонавтах.</a:t>
            </a:r>
          </a:p>
          <a:p>
            <a:r>
              <a:t>Это не только история техники, но и история людей: их искали, готовили и воспитывали по всей стране.</a:t>
            </a:r>
          </a:p>
          <a:p>
            <a:r>
              <a:t>Юрий Гагарин, человек из простой семьи, стал лицом великой державы и символом возможностей страны.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Иван: Эта тема важна не только как память о прошлом.</a:t>
            </a:r>
          </a:p>
          <a:p>
            <a:r>
              <a:t>Сегодня продолжаются космические проекты: Восточный, новая Российская орбитальная станция, спутниковые системы.</a:t>
            </a:r>
          </a:p>
          <a:p>
            <a:r>
              <a:t>Космос остаётся частью технологического суверенитета, безопасности и научного развития страны.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Иван: В итоге у нас получился не просто доклад, а готовый образовательный продукт.</a:t>
            </a:r>
          </a:p>
          <a:p>
            <a:r>
              <a:t>Через сайт можно посмотреть хронологию, архивные документы, биографии космонавтов и понять, почему космос связан с темой государственности.</a:t>
            </a:r>
          </a:p>
          <a:p>
            <a:r>
              <a:t>Большое спасибо за внимание! Мы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op-glow">
            <a:extLst>
              <a:ext uri="{FF2B5EF4-FFF2-40B4-BE49-F238E27FC236}">
                <a16:creationId xmlns:a16="http://schemas.microsoft.com/office/drawing/2014/main" id="{DA3679BE-12DB-48CA-BD17-AD1C8E630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8035D634-97D7-426A-843B-61DABD2333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course">
            <a:extLst>
              <a:ext uri="{FF2B5EF4-FFF2-40B4-BE49-F238E27FC236}">
                <a16:creationId xmlns:a16="http://schemas.microsoft.com/office/drawing/2014/main" id="{9761F367-2A24-49A4-A3F8-7B9470FB5CC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F0C85A"/>
                </a:solidFill>
              </a:defRPr>
            </a:pPr>
            <a:r>
              <a:rPr sz="1200" b="1" i="0">
                <a:solidFill>
                  <a:srgbClr val="F0C85A"/>
                </a:solidFill>
              </a:rPr>
              <a:t>ОСНОВЫ РОССИЙСКОЙ ГОСУДАРСТВЕННОСТИ</a:t>
            </a:r>
          </a:p>
        </p:txBody>
      </p:sp>
      <p:sp>
        <p:nvSpPr>
          <p:cNvPr id="5" name="main-title">
            <a:extLst>
              <a:ext uri="{FF2B5EF4-FFF2-40B4-BE49-F238E27FC236}">
                <a16:creationId xmlns:a16="http://schemas.microsoft.com/office/drawing/2014/main" id="{C7CFCE1B-DD9A-464B-B9F9-682C3F669FA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 i="0">
                <a:solidFill>
                  <a:srgbClr val="F4F7FB"/>
                </a:solidFill>
              </a:defRPr>
            </a:pPr>
            <a:r>
              <a:rPr sz="4050" b="1" i="0">
                <a:solidFill>
                  <a:srgbClr val="F4F7FB"/>
                </a:solidFill>
              </a:rPr>
              <a:t>День космонавтики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85652EE-2579-4E89-B772-6C2077A3CDF3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B8C3D7"/>
                </a:solidFill>
              </a:defRPr>
            </a:pPr>
            <a:r>
              <a:rPr sz="1800" b="0" i="0">
                <a:solidFill>
                  <a:srgbClr val="B8C3D7"/>
                </a:solidFill>
              </a:rPr>
              <a:t>Цифровой музей о российской космической программе</a:t>
            </a:r>
          </a:p>
        </p:txBody>
      </p:sp>
      <p:sp>
        <p:nvSpPr>
          <p:cNvPr id="7" name="accent-gold">
            <a:extLst>
              <a:ext uri="{FF2B5EF4-FFF2-40B4-BE49-F238E27FC236}">
                <a16:creationId xmlns:a16="http://schemas.microsoft.com/office/drawing/2014/main" id="{CC2E5525-72CA-4A85-B858-2D5A4318F075}"/>
              </a:ext>
            </a:extLst>
          </p:cNvPr>
          <p:cNvSpPr>
            <a:spLocks noGrp="1"/>
          </p:cNvSpPr>
          <p:nvPr/>
        </p:nvSpPr>
        <p:spPr>
          <a:xfrm>
            <a:off x="723900" y="3009900"/>
            <a:ext cx="1466850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8" name="accent-cyan">
            <a:extLst>
              <a:ext uri="{FF2B5EF4-FFF2-40B4-BE49-F238E27FC236}">
                <a16:creationId xmlns:a16="http://schemas.microsoft.com/office/drawing/2014/main" id="{1C4F2F60-EDE0-44C1-BF9A-00E0E1CBBD72}"/>
              </a:ext>
            </a:extLst>
          </p:cNvPr>
          <p:cNvSpPr>
            <a:spLocks noGrp="1"/>
          </p:cNvSpPr>
          <p:nvPr/>
        </p:nvSpPr>
        <p:spPr>
          <a:xfrm>
            <a:off x="2190750" y="3009900"/>
            <a:ext cx="74676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9" name="accent-red">
            <a:extLst>
              <a:ext uri="{FF2B5EF4-FFF2-40B4-BE49-F238E27FC236}">
                <a16:creationId xmlns:a16="http://schemas.microsoft.com/office/drawing/2014/main" id="{D3FC805A-8BCB-49E2-A3D5-26838300D380}"/>
              </a:ext>
            </a:extLst>
          </p:cNvPr>
          <p:cNvSpPr>
            <a:spLocks noGrp="1"/>
          </p:cNvSpPr>
          <p:nvPr/>
        </p:nvSpPr>
        <p:spPr>
          <a:xfrm>
            <a:off x="2937510" y="3009900"/>
            <a:ext cx="453390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0" name="bullet-dot">
            <a:extLst>
              <a:ext uri="{FF2B5EF4-FFF2-40B4-BE49-F238E27FC236}">
                <a16:creationId xmlns:a16="http://schemas.microsoft.com/office/drawing/2014/main" id="{12EB549A-45B0-41FA-A461-8D551C3FA1FC}"/>
              </a:ext>
            </a:extLst>
          </p:cNvPr>
          <p:cNvSpPr>
            <a:spLocks noGrp="1"/>
          </p:cNvSpPr>
          <p:nvPr/>
        </p:nvSpPr>
        <p:spPr>
          <a:xfrm>
            <a:off x="723900" y="34575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198AE198-59A8-47AE-AC87-A56537764488}"/>
              </a:ext>
            </a:extLst>
          </p:cNvPr>
          <p:cNvSpPr>
            <a:spLocks noGrp="1"/>
          </p:cNvSpPr>
          <p:nvPr/>
        </p:nvSpPr>
        <p:spPr>
          <a:xfrm>
            <a:off x="1028700" y="3476625"/>
            <a:ext cx="588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F4F7FB"/>
                </a:solidFill>
              </a:defRPr>
            </a:pPr>
            <a:r>
              <a:rPr sz="1650" b="0" i="0">
                <a:solidFill>
                  <a:srgbClr val="F4F7FB"/>
                </a:solidFill>
              </a:rPr>
              <a:t>веб-сайт вместо обычного реферата</a:t>
            </a:r>
          </a:p>
        </p:txBody>
      </p:sp>
      <p:sp>
        <p:nvSpPr>
          <p:cNvPr id="12" name="bullet-dot">
            <a:extLst>
              <a:ext uri="{FF2B5EF4-FFF2-40B4-BE49-F238E27FC236}">
                <a16:creationId xmlns:a16="http://schemas.microsoft.com/office/drawing/2014/main" id="{C9DEF5D9-8F30-4CE9-941C-68ABCD9B86B4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13" name="bullet">
            <a:extLst>
              <a:ext uri="{FF2B5EF4-FFF2-40B4-BE49-F238E27FC236}">
                <a16:creationId xmlns:a16="http://schemas.microsoft.com/office/drawing/2014/main" id="{AF7D37E1-E51E-476E-88BC-01ED83DB2D66}"/>
              </a:ext>
            </a:extLst>
          </p:cNvPr>
          <p:cNvSpPr>
            <a:spLocks noGrp="1"/>
          </p:cNvSpPr>
          <p:nvPr/>
        </p:nvSpPr>
        <p:spPr>
          <a:xfrm>
            <a:off x="1028700" y="4029075"/>
            <a:ext cx="588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F4F7FB"/>
                </a:solidFill>
              </a:defRPr>
            </a:pPr>
            <a:r>
              <a:rPr sz="1650" b="0" i="0">
                <a:solidFill>
                  <a:srgbClr val="F4F7FB"/>
                </a:solidFill>
              </a:rPr>
              <a:t>история космоса как пример суверенитета</a:t>
            </a:r>
          </a:p>
        </p:txBody>
      </p:sp>
      <p:sp>
        <p:nvSpPr>
          <p:cNvPr id="14" name="bullet-dot">
            <a:extLst>
              <a:ext uri="{FF2B5EF4-FFF2-40B4-BE49-F238E27FC236}">
                <a16:creationId xmlns:a16="http://schemas.microsoft.com/office/drawing/2014/main" id="{0D445B0C-490C-43C8-9D2E-2DA698CD4051}"/>
              </a:ext>
            </a:extLst>
          </p:cNvPr>
          <p:cNvSpPr>
            <a:spLocks noGrp="1"/>
          </p:cNvSpPr>
          <p:nvPr/>
        </p:nvSpPr>
        <p:spPr>
          <a:xfrm>
            <a:off x="723900" y="4562475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15" name="bullet">
            <a:extLst>
              <a:ext uri="{FF2B5EF4-FFF2-40B4-BE49-F238E27FC236}">
                <a16:creationId xmlns:a16="http://schemas.microsoft.com/office/drawing/2014/main" id="{FF8BBDF9-F66D-411D-A797-A22BA624F7E2}"/>
              </a:ext>
            </a:extLst>
          </p:cNvPr>
          <p:cNvSpPr>
            <a:spLocks noGrp="1"/>
          </p:cNvSpPr>
          <p:nvPr/>
        </p:nvSpPr>
        <p:spPr>
          <a:xfrm>
            <a:off x="1028700" y="4581525"/>
            <a:ext cx="5886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F4F7FB"/>
                </a:solidFill>
              </a:defRPr>
            </a:pPr>
            <a:r>
              <a:rPr sz="1650" b="0" i="0">
                <a:solidFill>
                  <a:srgbClr val="F4F7FB"/>
                </a:solidFill>
              </a:rPr>
              <a:t>архивы, люди и государственная координация</a:t>
            </a:r>
          </a:p>
        </p:txBody>
      </p:sp>
      <p:sp>
        <p:nvSpPr>
          <p:cNvPr id="17" name="accent-gold">
            <a:extLst>
              <a:ext uri="{FF2B5EF4-FFF2-40B4-BE49-F238E27FC236}">
                <a16:creationId xmlns:a16="http://schemas.microsoft.com/office/drawing/2014/main" id="{C2DA8836-0134-43AC-9FD7-C9E0B9F53322}"/>
              </a:ext>
            </a:extLst>
          </p:cNvPr>
          <p:cNvSpPr>
            <a:spLocks noGrp="1"/>
          </p:cNvSpPr>
          <p:nvPr/>
        </p:nvSpPr>
        <p:spPr>
          <a:xfrm>
            <a:off x="7810500" y="1047750"/>
            <a:ext cx="1781175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8" name="accent-cyan">
            <a:extLst>
              <a:ext uri="{FF2B5EF4-FFF2-40B4-BE49-F238E27FC236}">
                <a16:creationId xmlns:a16="http://schemas.microsoft.com/office/drawing/2014/main" id="{E0F171AF-AD58-4C4A-AE1E-39453F4DD04F}"/>
              </a:ext>
            </a:extLst>
          </p:cNvPr>
          <p:cNvSpPr>
            <a:spLocks noGrp="1"/>
          </p:cNvSpPr>
          <p:nvPr/>
        </p:nvSpPr>
        <p:spPr>
          <a:xfrm>
            <a:off x="9591675" y="1047750"/>
            <a:ext cx="90678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9" name="accent-red">
            <a:extLst>
              <a:ext uri="{FF2B5EF4-FFF2-40B4-BE49-F238E27FC236}">
                <a16:creationId xmlns:a16="http://schemas.microsoft.com/office/drawing/2014/main" id="{0EE50677-2009-484A-849E-08639CA57C58}"/>
              </a:ext>
            </a:extLst>
          </p:cNvPr>
          <p:cNvSpPr>
            <a:spLocks noGrp="1"/>
          </p:cNvSpPr>
          <p:nvPr/>
        </p:nvSpPr>
        <p:spPr>
          <a:xfrm>
            <a:off x="10498455" y="1047750"/>
            <a:ext cx="550545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20" name="photo-label">
            <a:extLst>
              <a:ext uri="{FF2B5EF4-FFF2-40B4-BE49-F238E27FC236}">
                <a16:creationId xmlns:a16="http://schemas.microsoft.com/office/drawing/2014/main" id="{EB54D1ED-070D-486E-B93C-09B4FF3250A3}"/>
              </a:ext>
            </a:extLst>
          </p:cNvPr>
          <p:cNvSpPr>
            <a:spLocks noGrp="1"/>
          </p:cNvSpPr>
          <p:nvPr/>
        </p:nvSpPr>
        <p:spPr>
          <a:xfrm>
            <a:off x="8077200" y="2724150"/>
            <a:ext cx="270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21" name="photo-sub">
            <a:extLst>
              <a:ext uri="{FF2B5EF4-FFF2-40B4-BE49-F238E27FC236}">
                <a16:creationId xmlns:a16="http://schemas.microsoft.com/office/drawing/2014/main" id="{34805849-CCE5-4505-96D8-B0854A60D018}"/>
              </a:ext>
            </a:extLst>
          </p:cNvPr>
          <p:cNvSpPr>
            <a:spLocks noGrp="1"/>
          </p:cNvSpPr>
          <p:nvPr/>
        </p:nvSpPr>
        <p:spPr>
          <a:xfrm>
            <a:off x="8077200" y="30861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22" name="participants">
            <a:extLst>
              <a:ext uri="{FF2B5EF4-FFF2-40B4-BE49-F238E27FC236}">
                <a16:creationId xmlns:a16="http://schemas.microsoft.com/office/drawing/2014/main" id="{E5E313E1-1F5C-4E0D-9A94-E0149E5A7124}"/>
              </a:ext>
            </a:extLst>
          </p:cNvPr>
          <p:cNvSpPr>
            <a:spLocks noGrp="1"/>
          </p:cNvSpPr>
          <p:nvPr/>
        </p:nvSpPr>
        <p:spPr>
          <a:xfrm>
            <a:off x="742950" y="5019675"/>
            <a:ext cx="5886450" cy="1057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B8C3D7"/>
                </a:solidFill>
              </a:defRPr>
            </a:pPr>
            <a:r>
              <a:rPr lang="ru-RU" sz="1050" dirty="0">
                <a:solidFill>
                  <a:srgbClr val="B8C3D7"/>
                </a:solidFill>
              </a:rPr>
              <a:t>Выполнили:</a:t>
            </a:r>
            <a:br>
              <a:rPr lang="ru-RU" sz="1050" dirty="0">
                <a:solidFill>
                  <a:srgbClr val="B8C3D7"/>
                </a:solidFill>
              </a:rPr>
            </a:br>
            <a:r>
              <a:rPr lang="ru-RU" sz="1050" dirty="0">
                <a:solidFill>
                  <a:srgbClr val="B8C3D7"/>
                </a:solidFill>
              </a:rPr>
              <a:t>Истомин Сергей</a:t>
            </a:r>
          </a:p>
          <a:p>
            <a:pPr algn="l">
              <a:defRPr sz="1350" b="0" i="0">
                <a:solidFill>
                  <a:srgbClr val="B8C3D7"/>
                </a:solidFill>
              </a:defRPr>
            </a:pPr>
            <a:r>
              <a:rPr lang="ru-RU" sz="1050" dirty="0">
                <a:solidFill>
                  <a:srgbClr val="B8C3D7"/>
                </a:solidFill>
              </a:rPr>
              <a:t>Большаков Всеволод</a:t>
            </a:r>
          </a:p>
          <a:p>
            <a:pPr algn="l">
              <a:defRPr sz="1350" b="0" i="0">
                <a:solidFill>
                  <a:srgbClr val="B8C3D7"/>
                </a:solidFill>
              </a:defRPr>
            </a:pPr>
            <a:r>
              <a:rPr lang="ru-RU" sz="1050" dirty="0">
                <a:solidFill>
                  <a:srgbClr val="B8C3D7"/>
                </a:solidFill>
              </a:rPr>
              <a:t>Зарубов Иван</a:t>
            </a:r>
            <a:br>
              <a:rPr lang="ru-RU" sz="1050" dirty="0">
                <a:solidFill>
                  <a:srgbClr val="B8C3D7"/>
                </a:solidFill>
              </a:rPr>
            </a:br>
            <a:r>
              <a:rPr lang="ru-RU" sz="1050" dirty="0">
                <a:solidFill>
                  <a:srgbClr val="B8C3D7"/>
                </a:solidFill>
              </a:rPr>
              <a:t>Вакилов Динар</a:t>
            </a:r>
          </a:p>
          <a:p>
            <a:pPr algn="l">
              <a:defRPr sz="1350" b="0" i="0">
                <a:solidFill>
                  <a:srgbClr val="B8C3D7"/>
                </a:solidFill>
              </a:defRPr>
            </a:pPr>
            <a:r>
              <a:rPr lang="ru-RU" sz="1050" dirty="0">
                <a:solidFill>
                  <a:srgbClr val="B8C3D7"/>
                </a:solidFill>
              </a:rPr>
              <a:t>Захаров Артем</a:t>
            </a:r>
            <a:br>
              <a:rPr lang="ru-RU" sz="1050" dirty="0">
                <a:solidFill>
                  <a:srgbClr val="B8C3D7"/>
                </a:solidFill>
              </a:rPr>
            </a:br>
            <a:r>
              <a:rPr lang="ru-RU" sz="1050" dirty="0">
                <a:solidFill>
                  <a:srgbClr val="B8C3D7"/>
                </a:solidFill>
              </a:rPr>
              <a:t>Зимаков Ибрагим</a:t>
            </a:r>
            <a:endParaRPr sz="1050" b="0" i="0" dirty="0">
              <a:solidFill>
                <a:srgbClr val="B8C3D7"/>
              </a:solidFill>
            </a:endParaRPr>
          </a:p>
        </p:txBody>
      </p:sp>
      <p:sp>
        <p:nvSpPr>
          <p:cNvPr id="23" name="rule">
            <a:extLst>
              <a:ext uri="{FF2B5EF4-FFF2-40B4-BE49-F238E27FC236}">
                <a16:creationId xmlns:a16="http://schemas.microsoft.com/office/drawing/2014/main" id="{E8E2E7EE-BA4D-4E9D-A414-AD10BA27D3CB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24" name="footer">
            <a:extLst>
              <a:ext uri="{FF2B5EF4-FFF2-40B4-BE49-F238E27FC236}">
                <a16:creationId xmlns:a16="http://schemas.microsoft.com/office/drawing/2014/main" id="{2DF1FD23-50D3-4073-A590-8B313D4C436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25" name="page-number">
            <a:extLst>
              <a:ext uri="{FF2B5EF4-FFF2-40B4-BE49-F238E27FC236}">
                <a16:creationId xmlns:a16="http://schemas.microsoft.com/office/drawing/2014/main" id="{9D71070B-17E3-4578-93CA-C5B462221BEC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01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8F72D8D-01FF-1944-A3C6-47B0E7C9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276" y="1565780"/>
            <a:ext cx="4746048" cy="395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op-glow">
            <a:extLst>
              <a:ext uri="{FF2B5EF4-FFF2-40B4-BE49-F238E27FC236}">
                <a16:creationId xmlns:a16="http://schemas.microsoft.com/office/drawing/2014/main" id="{9344D172-7206-4DCF-9BE1-E235F9E409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</p:sp>
      <p:sp>
        <p:nvSpPr>
          <p:cNvPr id="2" name="right-band">
            <a:extLst>
              <a:ext uri="{FF2B5EF4-FFF2-40B4-BE49-F238E27FC236}">
                <a16:creationId xmlns:a16="http://schemas.microsoft.com/office/drawing/2014/main" id="{EAB0D453-2766-4D5C-983A-3599B7754277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B1222"/>
          </a:solidFill>
          <a:ln w="0">
            <a:noFill/>
            <a:prstDash val="solid"/>
          </a:ln>
        </p:spPr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8CF2E23D-6CBA-44B8-8DC2-D315A4ED30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D91BBAD3-D179-49BF-949C-45A4FEAD5DC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F0C85A"/>
                </a:solidFill>
              </a:defRPr>
            </a:pPr>
            <a:r>
              <a:rPr sz="1125" b="1" i="0">
                <a:solidFill>
                  <a:srgbClr val="F0C85A"/>
                </a:solidFill>
              </a:rPr>
              <a:t>Структура проекта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20E86783-84CC-4112-BE20-71BC495D950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4F7FB"/>
                </a:solidFill>
              </a:defRPr>
            </a:pPr>
            <a:r>
              <a:rPr sz="3150" b="1" i="0">
                <a:solidFill>
                  <a:srgbClr val="F4F7FB"/>
                </a:solidFill>
              </a:rPr>
              <a:t>Как устроен сайт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017479ED-EC54-4BFD-AF22-476944840347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C403BB3-2A27-4697-B573-321903E747C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17FB8270-12EE-4255-B7C1-7D88D5B55218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02</a:t>
            </a:r>
          </a:p>
        </p:txBody>
      </p:sp>
      <p:sp>
        <p:nvSpPr>
          <p:cNvPr id="10" name="accent-gold">
            <a:extLst>
              <a:ext uri="{FF2B5EF4-FFF2-40B4-BE49-F238E27FC236}">
                <a16:creationId xmlns:a16="http://schemas.microsoft.com/office/drawing/2014/main" id="{7815239A-C7A3-4467-AE78-8D2C42B5364D}"/>
              </a:ext>
            </a:extLst>
          </p:cNvPr>
          <p:cNvSpPr>
            <a:spLocks noGrp="1"/>
          </p:cNvSpPr>
          <p:nvPr/>
        </p:nvSpPr>
        <p:spPr>
          <a:xfrm>
            <a:off x="7000875" y="1941189"/>
            <a:ext cx="2200275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1" name="accent-cyan">
            <a:extLst>
              <a:ext uri="{FF2B5EF4-FFF2-40B4-BE49-F238E27FC236}">
                <a16:creationId xmlns:a16="http://schemas.microsoft.com/office/drawing/2014/main" id="{CAA862C4-EC0C-421D-863D-C3AB12160F2E}"/>
              </a:ext>
            </a:extLst>
          </p:cNvPr>
          <p:cNvSpPr>
            <a:spLocks noGrp="1"/>
          </p:cNvSpPr>
          <p:nvPr/>
        </p:nvSpPr>
        <p:spPr>
          <a:xfrm>
            <a:off x="9201150" y="1941189"/>
            <a:ext cx="112014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2" name="accent-red">
            <a:extLst>
              <a:ext uri="{FF2B5EF4-FFF2-40B4-BE49-F238E27FC236}">
                <a16:creationId xmlns:a16="http://schemas.microsoft.com/office/drawing/2014/main" id="{82586CE2-D06E-488A-B28A-1FA15B0C45D6}"/>
              </a:ext>
            </a:extLst>
          </p:cNvPr>
          <p:cNvSpPr>
            <a:spLocks noGrp="1"/>
          </p:cNvSpPr>
          <p:nvPr/>
        </p:nvSpPr>
        <p:spPr>
          <a:xfrm>
            <a:off x="10321290" y="1941189"/>
            <a:ext cx="680085" cy="47624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3" name="photo-label">
            <a:extLst>
              <a:ext uri="{FF2B5EF4-FFF2-40B4-BE49-F238E27FC236}">
                <a16:creationId xmlns:a16="http://schemas.microsoft.com/office/drawing/2014/main" id="{6F486B73-BD2D-4157-B0A7-3A265031A4B8}"/>
              </a:ext>
            </a:extLst>
          </p:cNvPr>
          <p:cNvSpPr>
            <a:spLocks noGrp="1"/>
          </p:cNvSpPr>
          <p:nvPr/>
        </p:nvSpPr>
        <p:spPr>
          <a:xfrm>
            <a:off x="7219950" y="1800225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14" name="photo-sub">
            <a:extLst>
              <a:ext uri="{FF2B5EF4-FFF2-40B4-BE49-F238E27FC236}">
                <a16:creationId xmlns:a16="http://schemas.microsoft.com/office/drawing/2014/main" id="{42A61632-E50D-4978-B62F-8DFEB48C1705}"/>
              </a:ext>
            </a:extLst>
          </p:cNvPr>
          <p:cNvSpPr>
            <a:spLocks noGrp="1"/>
          </p:cNvSpPr>
          <p:nvPr/>
        </p:nvSpPr>
        <p:spPr>
          <a:xfrm>
            <a:off x="7219950" y="2162175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19" name="photo-label">
            <a:extLst>
              <a:ext uri="{FF2B5EF4-FFF2-40B4-BE49-F238E27FC236}">
                <a16:creationId xmlns:a16="http://schemas.microsoft.com/office/drawing/2014/main" id="{88CEB10A-AA80-45EB-B609-578C78E7824D}"/>
              </a:ext>
            </a:extLst>
          </p:cNvPr>
          <p:cNvSpPr>
            <a:spLocks noGrp="1"/>
          </p:cNvSpPr>
          <p:nvPr/>
        </p:nvSpPr>
        <p:spPr>
          <a:xfrm>
            <a:off x="7219950" y="4181475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20" name="photo-sub">
            <a:extLst>
              <a:ext uri="{FF2B5EF4-FFF2-40B4-BE49-F238E27FC236}">
                <a16:creationId xmlns:a16="http://schemas.microsoft.com/office/drawing/2014/main" id="{135726CB-31D6-4A67-AE71-F0A1E11BD896}"/>
              </a:ext>
            </a:extLst>
          </p:cNvPr>
          <p:cNvSpPr>
            <a:spLocks noGrp="1"/>
          </p:cNvSpPr>
          <p:nvPr/>
        </p:nvSpPr>
        <p:spPr>
          <a:xfrm>
            <a:off x="7219950" y="4543425"/>
            <a:ext cx="3467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21" name="section-card">
            <a:extLst>
              <a:ext uri="{FF2B5EF4-FFF2-40B4-BE49-F238E27FC236}">
                <a16:creationId xmlns:a16="http://schemas.microsoft.com/office/drawing/2014/main" id="{9A4A147B-2C1F-4A7F-94DC-3A66696A1399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111A31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2" name="section-name">
            <a:extLst>
              <a:ext uri="{FF2B5EF4-FFF2-40B4-BE49-F238E27FC236}">
                <a16:creationId xmlns:a16="http://schemas.microsoft.com/office/drawing/2014/main" id="{E25F491A-F797-4260-95B9-57607D1866AC}"/>
              </a:ext>
            </a:extLst>
          </p:cNvPr>
          <p:cNvSpPr>
            <a:spLocks noGrp="1"/>
          </p:cNvSpPr>
          <p:nvPr/>
        </p:nvSpPr>
        <p:spPr>
          <a:xfrm>
            <a:off x="914400" y="21240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Хроника</a:t>
            </a:r>
          </a:p>
        </p:txBody>
      </p:sp>
      <p:sp>
        <p:nvSpPr>
          <p:cNvPr id="23" name="section-desc">
            <a:extLst>
              <a:ext uri="{FF2B5EF4-FFF2-40B4-BE49-F238E27FC236}">
                <a16:creationId xmlns:a16="http://schemas.microsoft.com/office/drawing/2014/main" id="{67600FE6-63A0-4E2C-9D8D-E596DE6F154F}"/>
              </a:ext>
            </a:extLst>
          </p:cNvPr>
          <p:cNvSpPr>
            <a:spLocks noGrp="1"/>
          </p:cNvSpPr>
          <p:nvPr/>
        </p:nvSpPr>
        <p:spPr>
          <a:xfrm>
            <a:off x="2381250" y="216217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B8C3D7"/>
                </a:solidFill>
              </a:defRPr>
            </a:pPr>
            <a:r>
              <a:rPr sz="1275" b="0" i="0">
                <a:solidFill>
                  <a:srgbClr val="B8C3D7"/>
                </a:solidFill>
              </a:rPr>
              <a:t>ключевые события в формате таймлайна</a:t>
            </a:r>
          </a:p>
        </p:txBody>
      </p:sp>
      <p:sp>
        <p:nvSpPr>
          <p:cNvPr id="24" name="section-card">
            <a:extLst>
              <a:ext uri="{FF2B5EF4-FFF2-40B4-BE49-F238E27FC236}">
                <a16:creationId xmlns:a16="http://schemas.microsoft.com/office/drawing/2014/main" id="{C0BE8472-5B80-40AE-A33E-AFA625DAF050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111A31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5" name="section-name">
            <a:extLst>
              <a:ext uri="{FF2B5EF4-FFF2-40B4-BE49-F238E27FC236}">
                <a16:creationId xmlns:a16="http://schemas.microsoft.com/office/drawing/2014/main" id="{B5FACF37-B0C1-4577-908F-0950E147201D}"/>
              </a:ext>
            </a:extLst>
          </p:cNvPr>
          <p:cNvSpPr>
            <a:spLocks noGrp="1"/>
          </p:cNvSpPr>
          <p:nvPr/>
        </p:nvSpPr>
        <p:spPr>
          <a:xfrm>
            <a:off x="914400" y="29432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Летопись</a:t>
            </a:r>
          </a:p>
        </p:txBody>
      </p:sp>
      <p:sp>
        <p:nvSpPr>
          <p:cNvPr id="26" name="section-desc">
            <a:extLst>
              <a:ext uri="{FF2B5EF4-FFF2-40B4-BE49-F238E27FC236}">
                <a16:creationId xmlns:a16="http://schemas.microsoft.com/office/drawing/2014/main" id="{B6FB22B1-EE49-43C7-9CD9-895933211522}"/>
              </a:ext>
            </a:extLst>
          </p:cNvPr>
          <p:cNvSpPr>
            <a:spLocks noGrp="1"/>
          </p:cNvSpPr>
          <p:nvPr/>
        </p:nvSpPr>
        <p:spPr>
          <a:xfrm>
            <a:off x="2381250" y="29813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B8C3D7"/>
                </a:solidFill>
              </a:defRPr>
            </a:pPr>
            <a:r>
              <a:rPr sz="1275" b="0" i="0">
                <a:solidFill>
                  <a:srgbClr val="B8C3D7"/>
                </a:solidFill>
              </a:rPr>
              <a:t>развёрнутый исторический и технический контекст</a:t>
            </a:r>
          </a:p>
        </p:txBody>
      </p:sp>
      <p:sp>
        <p:nvSpPr>
          <p:cNvPr id="27" name="section-card">
            <a:extLst>
              <a:ext uri="{FF2B5EF4-FFF2-40B4-BE49-F238E27FC236}">
                <a16:creationId xmlns:a16="http://schemas.microsoft.com/office/drawing/2014/main" id="{EF4B5A3F-2251-4664-825B-756EC31DE4D8}"/>
              </a:ext>
            </a:extLst>
          </p:cNvPr>
          <p:cNvSpPr>
            <a:spLocks noGrp="1"/>
          </p:cNvSpPr>
          <p:nvPr/>
        </p:nvSpPr>
        <p:spPr>
          <a:xfrm>
            <a:off x="685800" y="363855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111A31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28" name="section-name">
            <a:extLst>
              <a:ext uri="{FF2B5EF4-FFF2-40B4-BE49-F238E27FC236}">
                <a16:creationId xmlns:a16="http://schemas.microsoft.com/office/drawing/2014/main" id="{BEBA09A0-0D34-43D7-BCBA-E9BBBFACF1E6}"/>
              </a:ext>
            </a:extLst>
          </p:cNvPr>
          <p:cNvSpPr>
            <a:spLocks noGrp="1"/>
          </p:cNvSpPr>
          <p:nvPr/>
        </p:nvSpPr>
        <p:spPr>
          <a:xfrm>
            <a:off x="914400" y="376237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Отряд</a:t>
            </a:r>
          </a:p>
        </p:txBody>
      </p:sp>
      <p:sp>
        <p:nvSpPr>
          <p:cNvPr id="29" name="section-desc">
            <a:extLst>
              <a:ext uri="{FF2B5EF4-FFF2-40B4-BE49-F238E27FC236}">
                <a16:creationId xmlns:a16="http://schemas.microsoft.com/office/drawing/2014/main" id="{2BE3844E-15DF-4D8B-9432-7409FFD7E73D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B8C3D7"/>
                </a:solidFill>
              </a:defRPr>
            </a:pPr>
            <a:r>
              <a:rPr sz="1275" b="0" i="0">
                <a:solidFill>
                  <a:srgbClr val="B8C3D7"/>
                </a:solidFill>
              </a:rPr>
              <a:t>первые космонавты и их биографии</a:t>
            </a:r>
          </a:p>
        </p:txBody>
      </p:sp>
      <p:sp>
        <p:nvSpPr>
          <p:cNvPr id="30" name="section-card">
            <a:extLst>
              <a:ext uri="{FF2B5EF4-FFF2-40B4-BE49-F238E27FC236}">
                <a16:creationId xmlns:a16="http://schemas.microsoft.com/office/drawing/2014/main" id="{6925760C-492C-4F9C-9DA6-3C1D20808230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5334000" cy="590550"/>
          </a:xfrm>
          <a:prstGeom prst="roundRect">
            <a:avLst>
              <a:gd name="adj" fmla="val 12903"/>
            </a:avLst>
          </a:prstGeom>
          <a:solidFill>
            <a:srgbClr val="111A31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1" name="section-name">
            <a:extLst>
              <a:ext uri="{FF2B5EF4-FFF2-40B4-BE49-F238E27FC236}">
                <a16:creationId xmlns:a16="http://schemas.microsoft.com/office/drawing/2014/main" id="{1029D0E4-DFD2-4E66-AB90-D9E6E759CBAD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Документы</a:t>
            </a:r>
          </a:p>
        </p:txBody>
      </p:sp>
      <p:sp>
        <p:nvSpPr>
          <p:cNvPr id="32" name="section-desc">
            <a:extLst>
              <a:ext uri="{FF2B5EF4-FFF2-40B4-BE49-F238E27FC236}">
                <a16:creationId xmlns:a16="http://schemas.microsoft.com/office/drawing/2014/main" id="{0AD4F03E-2FC0-4E44-A1EC-86C2E2432725}"/>
              </a:ext>
            </a:extLst>
          </p:cNvPr>
          <p:cNvSpPr>
            <a:spLocks noGrp="1"/>
          </p:cNvSpPr>
          <p:nvPr/>
        </p:nvSpPr>
        <p:spPr>
          <a:xfrm>
            <a:off x="2381250" y="461962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B8C3D7"/>
                </a:solidFill>
              </a:defRPr>
            </a:pPr>
            <a:r>
              <a:rPr sz="1275" b="0" i="0">
                <a:solidFill>
                  <a:srgbClr val="B8C3D7"/>
                </a:solidFill>
              </a:rPr>
              <a:t>архивные материалы и свидетельства эпохи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33D73FC-E33E-0782-F92A-8394AC82E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094" y="2112639"/>
            <a:ext cx="5228337" cy="282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2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op-glow">
            <a:extLst>
              <a:ext uri="{FF2B5EF4-FFF2-40B4-BE49-F238E27FC236}">
                <a16:creationId xmlns:a16="http://schemas.microsoft.com/office/drawing/2014/main" id="{3CDD704A-302C-4C13-A940-A31D66478096}"/>
              </a:ext>
            </a:extLst>
          </p:cNvPr>
          <p:cNvSpPr>
            <a:spLocks noGrp="1"/>
          </p:cNvSpPr>
          <p:nvPr/>
        </p:nvSpPr>
        <p:spPr>
          <a:xfrm>
            <a:off x="0" y="-66675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</p:sp>
      <p:sp>
        <p:nvSpPr>
          <p:cNvPr id="2" name="right-band">
            <a:extLst>
              <a:ext uri="{FF2B5EF4-FFF2-40B4-BE49-F238E27FC236}">
                <a16:creationId xmlns:a16="http://schemas.microsoft.com/office/drawing/2014/main" id="{60276DF4-5E5A-44F4-BF04-D3F108953050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B1222"/>
          </a:solidFill>
          <a:ln w="0">
            <a:noFill/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9CF0EF9A-D39C-410E-9B64-FC4DEAC1AB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39CE4F8F-9222-4955-A0D7-0CC4BEDEE1CC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F0C85A"/>
                </a:solidFill>
              </a:defRPr>
            </a:pPr>
            <a:r>
              <a:rPr sz="1125" b="1" i="0">
                <a:solidFill>
                  <a:srgbClr val="F0C85A"/>
                </a:solidFill>
              </a:rPr>
              <a:t>Государство как организатор развития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AF9B0BA-229A-49CD-B47A-EAFDD227140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4F7FB"/>
                </a:solidFill>
              </a:defRPr>
            </a:pPr>
            <a:r>
              <a:rPr sz="3150" b="1" i="0">
                <a:solidFill>
                  <a:srgbClr val="F4F7FB"/>
                </a:solidFill>
              </a:rPr>
              <a:t>Хроника и летопись прорыва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69802CCA-F5F0-483E-A956-8058699D4236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ABF4341-F989-4153-A4B1-7F39A20D379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4B2EDEF0-B2F6-4ECF-A7C4-BFDEF47ECD00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03</a:t>
            </a:r>
          </a:p>
        </p:txBody>
      </p:sp>
      <p:sp>
        <p:nvSpPr>
          <p:cNvPr id="10" name="accent-gold">
            <a:extLst>
              <a:ext uri="{FF2B5EF4-FFF2-40B4-BE49-F238E27FC236}">
                <a16:creationId xmlns:a16="http://schemas.microsoft.com/office/drawing/2014/main" id="{28AF1290-4BE2-4E5D-8D71-8C26A725545A}"/>
              </a:ext>
            </a:extLst>
          </p:cNvPr>
          <p:cNvSpPr>
            <a:spLocks noGrp="1"/>
          </p:cNvSpPr>
          <p:nvPr/>
        </p:nvSpPr>
        <p:spPr>
          <a:xfrm>
            <a:off x="6858000" y="990600"/>
            <a:ext cx="2252663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1" name="accent-cyan">
            <a:extLst>
              <a:ext uri="{FF2B5EF4-FFF2-40B4-BE49-F238E27FC236}">
                <a16:creationId xmlns:a16="http://schemas.microsoft.com/office/drawing/2014/main" id="{A9F926CC-8814-4094-91FC-EA17EFA17E90}"/>
              </a:ext>
            </a:extLst>
          </p:cNvPr>
          <p:cNvSpPr>
            <a:spLocks noGrp="1"/>
          </p:cNvSpPr>
          <p:nvPr/>
        </p:nvSpPr>
        <p:spPr>
          <a:xfrm>
            <a:off x="9110663" y="990600"/>
            <a:ext cx="114681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2" name="accent-red">
            <a:extLst>
              <a:ext uri="{FF2B5EF4-FFF2-40B4-BE49-F238E27FC236}">
                <a16:creationId xmlns:a16="http://schemas.microsoft.com/office/drawing/2014/main" id="{536C3E2A-4E1B-4545-A131-4B4AB71B1DEA}"/>
              </a:ext>
            </a:extLst>
          </p:cNvPr>
          <p:cNvSpPr>
            <a:spLocks noGrp="1"/>
          </p:cNvSpPr>
          <p:nvPr/>
        </p:nvSpPr>
        <p:spPr>
          <a:xfrm>
            <a:off x="10257473" y="990600"/>
            <a:ext cx="696278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3" name="photo-label">
            <a:extLst>
              <a:ext uri="{FF2B5EF4-FFF2-40B4-BE49-F238E27FC236}">
                <a16:creationId xmlns:a16="http://schemas.microsoft.com/office/drawing/2014/main" id="{5549AA69-B4C5-41DF-B9CD-FABD60969553}"/>
              </a:ext>
            </a:extLst>
          </p:cNvPr>
          <p:cNvSpPr>
            <a:spLocks noGrp="1"/>
          </p:cNvSpPr>
          <p:nvPr/>
        </p:nvSpPr>
        <p:spPr>
          <a:xfrm>
            <a:off x="7124700" y="1762125"/>
            <a:ext cx="3562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14" name="photo-sub">
            <a:extLst>
              <a:ext uri="{FF2B5EF4-FFF2-40B4-BE49-F238E27FC236}">
                <a16:creationId xmlns:a16="http://schemas.microsoft.com/office/drawing/2014/main" id="{4D5E1A83-4C72-44EA-85AC-419DA9FCE6C2}"/>
              </a:ext>
            </a:extLst>
          </p:cNvPr>
          <p:cNvSpPr>
            <a:spLocks noGrp="1"/>
          </p:cNvSpPr>
          <p:nvPr/>
        </p:nvSpPr>
        <p:spPr>
          <a:xfrm>
            <a:off x="7124700" y="2124075"/>
            <a:ext cx="3562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lang="ru-RU" sz="1125" b="0" i="0" dirty="0">
              <a:solidFill>
                <a:srgbClr val="B8C3D7"/>
              </a:solidFill>
            </a:endParaRPr>
          </a:p>
        </p:txBody>
      </p:sp>
      <p:sp>
        <p:nvSpPr>
          <p:cNvPr id="16" name="accent-gold">
            <a:extLst>
              <a:ext uri="{FF2B5EF4-FFF2-40B4-BE49-F238E27FC236}">
                <a16:creationId xmlns:a16="http://schemas.microsoft.com/office/drawing/2014/main" id="{425BA61A-13FB-49AE-8FEA-22868536241C}"/>
              </a:ext>
            </a:extLst>
          </p:cNvPr>
          <p:cNvSpPr>
            <a:spLocks noGrp="1"/>
          </p:cNvSpPr>
          <p:nvPr/>
        </p:nvSpPr>
        <p:spPr>
          <a:xfrm>
            <a:off x="6858000" y="3486150"/>
            <a:ext cx="2252663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7" name="accent-cyan">
            <a:extLst>
              <a:ext uri="{FF2B5EF4-FFF2-40B4-BE49-F238E27FC236}">
                <a16:creationId xmlns:a16="http://schemas.microsoft.com/office/drawing/2014/main" id="{8D4A9B9C-D1D0-4209-8DEF-E8EA502DC3A6}"/>
              </a:ext>
            </a:extLst>
          </p:cNvPr>
          <p:cNvSpPr>
            <a:spLocks noGrp="1"/>
          </p:cNvSpPr>
          <p:nvPr/>
        </p:nvSpPr>
        <p:spPr>
          <a:xfrm>
            <a:off x="9110663" y="3486150"/>
            <a:ext cx="114681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8" name="accent-red">
            <a:extLst>
              <a:ext uri="{FF2B5EF4-FFF2-40B4-BE49-F238E27FC236}">
                <a16:creationId xmlns:a16="http://schemas.microsoft.com/office/drawing/2014/main" id="{0E930F4B-CAE7-457E-931C-C2036BD66AEC}"/>
              </a:ext>
            </a:extLst>
          </p:cNvPr>
          <p:cNvSpPr>
            <a:spLocks noGrp="1"/>
          </p:cNvSpPr>
          <p:nvPr/>
        </p:nvSpPr>
        <p:spPr>
          <a:xfrm>
            <a:off x="10257473" y="3486150"/>
            <a:ext cx="696278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9" name="photo-label">
            <a:extLst>
              <a:ext uri="{FF2B5EF4-FFF2-40B4-BE49-F238E27FC236}">
                <a16:creationId xmlns:a16="http://schemas.microsoft.com/office/drawing/2014/main" id="{D6706A7A-EE3F-4CBB-A837-E44B57764E02}"/>
              </a:ext>
            </a:extLst>
          </p:cNvPr>
          <p:cNvSpPr>
            <a:spLocks noGrp="1"/>
          </p:cNvSpPr>
          <p:nvPr/>
        </p:nvSpPr>
        <p:spPr>
          <a:xfrm>
            <a:off x="7124700" y="4019550"/>
            <a:ext cx="3562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20" name="photo-sub">
            <a:extLst>
              <a:ext uri="{FF2B5EF4-FFF2-40B4-BE49-F238E27FC236}">
                <a16:creationId xmlns:a16="http://schemas.microsoft.com/office/drawing/2014/main" id="{22F0201F-F9F9-48C9-9C02-DB8B308DF273}"/>
              </a:ext>
            </a:extLst>
          </p:cNvPr>
          <p:cNvSpPr>
            <a:spLocks noGrp="1"/>
          </p:cNvSpPr>
          <p:nvPr/>
        </p:nvSpPr>
        <p:spPr>
          <a:xfrm>
            <a:off x="7124700" y="4381500"/>
            <a:ext cx="3562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21" name="bullet-dot">
            <a:extLst>
              <a:ext uri="{FF2B5EF4-FFF2-40B4-BE49-F238E27FC236}">
                <a16:creationId xmlns:a16="http://schemas.microsoft.com/office/drawing/2014/main" id="{6F4B20B4-B948-41B2-8D84-3D23C56F02E6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4E3A4015-E847-4274-8EB4-20C61B157489}"/>
              </a:ext>
            </a:extLst>
          </p:cNvPr>
          <p:cNvSpPr>
            <a:spLocks noGrp="1"/>
          </p:cNvSpPr>
          <p:nvPr/>
        </p:nvSpPr>
        <p:spPr>
          <a:xfrm>
            <a:off x="1028700" y="200025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послевоенная страна делает ставку на технологии будущего</a:t>
            </a:r>
          </a:p>
        </p:txBody>
      </p:sp>
      <p:sp>
        <p:nvSpPr>
          <p:cNvPr id="23" name="bullet-dot">
            <a:extLst>
              <a:ext uri="{FF2B5EF4-FFF2-40B4-BE49-F238E27FC236}">
                <a16:creationId xmlns:a16="http://schemas.microsoft.com/office/drawing/2014/main" id="{AB2BA25F-C456-4C66-91E2-1A0F5EBB4747}"/>
              </a:ext>
            </a:extLst>
          </p:cNvPr>
          <p:cNvSpPr>
            <a:spLocks noGrp="1"/>
          </p:cNvSpPr>
          <p:nvPr/>
        </p:nvSpPr>
        <p:spPr>
          <a:xfrm>
            <a:off x="723900" y="25527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CABB1007-FB10-4C67-898B-7E33EBAF0E12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создание сложнейших систем с нуля</a:t>
            </a:r>
          </a:p>
        </p:txBody>
      </p:sp>
      <p:sp>
        <p:nvSpPr>
          <p:cNvPr id="25" name="bullet-dot">
            <a:extLst>
              <a:ext uri="{FF2B5EF4-FFF2-40B4-BE49-F238E27FC236}">
                <a16:creationId xmlns:a16="http://schemas.microsoft.com/office/drawing/2014/main" id="{CD714EDF-657F-4005-8563-D9C3BFD0BBD4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6" name="bullet">
            <a:extLst>
              <a:ext uri="{FF2B5EF4-FFF2-40B4-BE49-F238E27FC236}">
                <a16:creationId xmlns:a16="http://schemas.microsoft.com/office/drawing/2014/main" id="{DA52D8ED-73AC-44D2-9C8C-E07231F04A76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пример технологического суверенитета</a:t>
            </a:r>
          </a:p>
        </p:txBody>
      </p:sp>
      <p:sp>
        <p:nvSpPr>
          <p:cNvPr id="27" name="bullet-dot">
            <a:extLst>
              <a:ext uri="{FF2B5EF4-FFF2-40B4-BE49-F238E27FC236}">
                <a16:creationId xmlns:a16="http://schemas.microsoft.com/office/drawing/2014/main" id="{2FDAC6D4-EAFF-4638-B3DB-CF1C30401CD0}"/>
              </a:ext>
            </a:extLst>
          </p:cNvPr>
          <p:cNvSpPr>
            <a:spLocks noGrp="1"/>
          </p:cNvSpPr>
          <p:nvPr/>
        </p:nvSpPr>
        <p:spPr>
          <a:xfrm>
            <a:off x="723900" y="36957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8" name="bullet">
            <a:extLst>
              <a:ext uri="{FF2B5EF4-FFF2-40B4-BE49-F238E27FC236}">
                <a16:creationId xmlns:a16="http://schemas.microsoft.com/office/drawing/2014/main" id="{16884BA6-75C6-421A-90C7-F5DB51536CB5}"/>
              </a:ext>
            </a:extLst>
          </p:cNvPr>
          <p:cNvSpPr>
            <a:spLocks noGrp="1"/>
          </p:cNvSpPr>
          <p:nvPr/>
        </p:nvSpPr>
        <p:spPr>
          <a:xfrm>
            <a:off x="1028700" y="371475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наука, промышленность и управление работают как единая система</a:t>
            </a:r>
          </a:p>
        </p:txBody>
      </p:sp>
      <p:sp>
        <p:nvSpPr>
          <p:cNvPr id="29" name="tag">
            <a:extLst>
              <a:ext uri="{FF2B5EF4-FFF2-40B4-BE49-F238E27FC236}">
                <a16:creationId xmlns:a16="http://schemas.microsoft.com/office/drawing/2014/main" id="{17E1CA08-0D0B-4614-B8B8-7DD7EFE20B1B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18213A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0" name="tag-text">
            <a:extLst>
              <a:ext uri="{FF2B5EF4-FFF2-40B4-BE49-F238E27FC236}">
                <a16:creationId xmlns:a16="http://schemas.microsoft.com/office/drawing/2014/main" id="{79289C7C-8FA8-42AD-88AC-F7C002B77863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0C85A"/>
                </a:solidFill>
              </a:defRPr>
            </a:pPr>
            <a:r>
              <a:rPr sz="1050" b="1" i="0">
                <a:solidFill>
                  <a:srgbClr val="F0C85A"/>
                </a:solidFill>
              </a:rPr>
              <a:t>1946</a:t>
            </a:r>
          </a:p>
        </p:txBody>
      </p:sp>
      <p:sp>
        <p:nvSpPr>
          <p:cNvPr id="31" name="tag">
            <a:extLst>
              <a:ext uri="{FF2B5EF4-FFF2-40B4-BE49-F238E27FC236}">
                <a16:creationId xmlns:a16="http://schemas.microsoft.com/office/drawing/2014/main" id="{184305FA-7A3B-4A7C-90A7-5637B3C4BCB3}"/>
              </a:ext>
            </a:extLst>
          </p:cNvPr>
          <p:cNvSpPr>
            <a:spLocks noGrp="1"/>
          </p:cNvSpPr>
          <p:nvPr/>
        </p:nvSpPr>
        <p:spPr>
          <a:xfrm>
            <a:off x="1885950" y="521970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18213A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2" name="tag-text">
            <a:extLst>
              <a:ext uri="{FF2B5EF4-FFF2-40B4-BE49-F238E27FC236}">
                <a16:creationId xmlns:a16="http://schemas.microsoft.com/office/drawing/2014/main" id="{D41AF2BD-D6F8-4595-A92F-A282198B2FC2}"/>
              </a:ext>
            </a:extLst>
          </p:cNvPr>
          <p:cNvSpPr>
            <a:spLocks noGrp="1"/>
          </p:cNvSpPr>
          <p:nvPr/>
        </p:nvSpPr>
        <p:spPr>
          <a:xfrm>
            <a:off x="1885950" y="52959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0C85A"/>
                </a:solidFill>
              </a:defRPr>
            </a:pPr>
            <a:r>
              <a:rPr sz="1050" b="1" i="0">
                <a:solidFill>
                  <a:srgbClr val="F0C85A"/>
                </a:solidFill>
              </a:rPr>
              <a:t>1957</a:t>
            </a:r>
          </a:p>
        </p:txBody>
      </p:sp>
      <p:sp>
        <p:nvSpPr>
          <p:cNvPr id="33" name="tag">
            <a:extLst>
              <a:ext uri="{FF2B5EF4-FFF2-40B4-BE49-F238E27FC236}">
                <a16:creationId xmlns:a16="http://schemas.microsoft.com/office/drawing/2014/main" id="{0FEC79E7-ADB8-4F9D-B95C-82222D873F3D}"/>
              </a:ext>
            </a:extLst>
          </p:cNvPr>
          <p:cNvSpPr>
            <a:spLocks noGrp="1"/>
          </p:cNvSpPr>
          <p:nvPr/>
        </p:nvSpPr>
        <p:spPr>
          <a:xfrm>
            <a:off x="3009900" y="521970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18213A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4" name="tag-text">
            <a:extLst>
              <a:ext uri="{FF2B5EF4-FFF2-40B4-BE49-F238E27FC236}">
                <a16:creationId xmlns:a16="http://schemas.microsoft.com/office/drawing/2014/main" id="{0302F7C9-FE65-45B1-A504-7D8E0F0885FA}"/>
              </a:ext>
            </a:extLst>
          </p:cNvPr>
          <p:cNvSpPr>
            <a:spLocks noGrp="1"/>
          </p:cNvSpPr>
          <p:nvPr/>
        </p:nvSpPr>
        <p:spPr>
          <a:xfrm>
            <a:off x="3009900" y="52959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0C85A"/>
                </a:solidFill>
              </a:defRPr>
            </a:pPr>
            <a:r>
              <a:rPr sz="1050" b="1" i="0">
                <a:solidFill>
                  <a:srgbClr val="F0C85A"/>
                </a:solidFill>
              </a:rPr>
              <a:t>1961</a:t>
            </a:r>
          </a:p>
        </p:txBody>
      </p:sp>
      <p:sp>
        <p:nvSpPr>
          <p:cNvPr id="35" name="tag">
            <a:extLst>
              <a:ext uri="{FF2B5EF4-FFF2-40B4-BE49-F238E27FC236}">
                <a16:creationId xmlns:a16="http://schemas.microsoft.com/office/drawing/2014/main" id="{0B46F8FA-6F45-481C-9A4B-CF2CF976E23B}"/>
              </a:ext>
            </a:extLst>
          </p:cNvPr>
          <p:cNvSpPr>
            <a:spLocks noGrp="1"/>
          </p:cNvSpPr>
          <p:nvPr/>
        </p:nvSpPr>
        <p:spPr>
          <a:xfrm>
            <a:off x="4133850" y="5219700"/>
            <a:ext cx="952500" cy="361950"/>
          </a:xfrm>
          <a:prstGeom prst="roundRect">
            <a:avLst>
              <a:gd name="adj" fmla="val 21053"/>
            </a:avLst>
          </a:prstGeom>
          <a:solidFill>
            <a:srgbClr val="18213A"/>
          </a:solidFill>
          <a:ln w="9525">
            <a:solidFill>
              <a:srgbClr val="2A3654"/>
            </a:solidFill>
            <a:prstDash val="solid"/>
          </a:ln>
        </p:spPr>
      </p:sp>
      <p:sp>
        <p:nvSpPr>
          <p:cNvPr id="36" name="tag-text">
            <a:extLst>
              <a:ext uri="{FF2B5EF4-FFF2-40B4-BE49-F238E27FC236}">
                <a16:creationId xmlns:a16="http://schemas.microsoft.com/office/drawing/2014/main" id="{1FE86920-DC6F-4575-8B1E-6E3619258835}"/>
              </a:ext>
            </a:extLst>
          </p:cNvPr>
          <p:cNvSpPr>
            <a:spLocks noGrp="1"/>
          </p:cNvSpPr>
          <p:nvPr/>
        </p:nvSpPr>
        <p:spPr>
          <a:xfrm>
            <a:off x="4133850" y="5295900"/>
            <a:ext cx="95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F0C85A"/>
                </a:solidFill>
              </a:defRPr>
            </a:pPr>
            <a:r>
              <a:rPr sz="1050" b="1" i="0">
                <a:solidFill>
                  <a:srgbClr val="F0C85A"/>
                </a:solidFill>
              </a:rPr>
              <a:t>1965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A9DF017-DE9F-9F27-1AD9-0FF78FEAC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062" y="1112575"/>
            <a:ext cx="3268480" cy="225494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27B2DB53-C75D-C9DE-50A8-C61F824517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230" y="3635168"/>
            <a:ext cx="3185570" cy="230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2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op-glow">
            <a:extLst>
              <a:ext uri="{FF2B5EF4-FFF2-40B4-BE49-F238E27FC236}">
                <a16:creationId xmlns:a16="http://schemas.microsoft.com/office/drawing/2014/main" id="{45A8763B-D00E-440F-993B-63BA6181F2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</p:sp>
      <p:sp>
        <p:nvSpPr>
          <p:cNvPr id="2" name="right-band">
            <a:extLst>
              <a:ext uri="{FF2B5EF4-FFF2-40B4-BE49-F238E27FC236}">
                <a16:creationId xmlns:a16="http://schemas.microsoft.com/office/drawing/2014/main" id="{9F2BAF4D-C7A9-4054-9E23-B4D260E6701E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B1222"/>
          </a:solidFill>
          <a:ln w="0">
            <a:noFill/>
            <a:prstDash val="solid"/>
          </a:ln>
        </p:spPr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0874EF74-77AB-4D1C-9840-89C9278EB7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2B2C1B1C-067D-4433-9071-1350E7C5BB3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F0C85A"/>
                </a:solidFill>
              </a:defRPr>
            </a:pPr>
            <a:r>
              <a:rPr sz="1125" b="1" i="0">
                <a:solidFill>
                  <a:srgbClr val="F0C85A"/>
                </a:solidFill>
              </a:rPr>
              <a:t>Космос как управленческий механизм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2DAD92C-BD79-49B7-9007-88FFFDB72E4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4F7FB"/>
                </a:solidFill>
              </a:defRPr>
            </a:pPr>
            <a:r>
              <a:rPr sz="3150" b="1" i="0">
                <a:solidFill>
                  <a:srgbClr val="F4F7FB"/>
                </a:solidFill>
              </a:rPr>
              <a:t>Архивные документы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69682D34-5A88-46F2-AEF8-F9AA63B8EBA3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7B9CB577-6733-4EAE-9C21-940124984A7D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4DC9F919-722C-46CF-A78C-0FB6A3806868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04</a:t>
            </a:r>
          </a:p>
        </p:txBody>
      </p:sp>
      <p:sp>
        <p:nvSpPr>
          <p:cNvPr id="10" name="accent-gold">
            <a:extLst>
              <a:ext uri="{FF2B5EF4-FFF2-40B4-BE49-F238E27FC236}">
                <a16:creationId xmlns:a16="http://schemas.microsoft.com/office/drawing/2014/main" id="{3603E44A-D15F-40ED-A46F-95018E895D69}"/>
              </a:ext>
            </a:extLst>
          </p:cNvPr>
          <p:cNvSpPr>
            <a:spLocks noGrp="1"/>
          </p:cNvSpPr>
          <p:nvPr/>
        </p:nvSpPr>
        <p:spPr>
          <a:xfrm>
            <a:off x="6705600" y="990600"/>
            <a:ext cx="2357438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1" name="accent-cyan">
            <a:extLst>
              <a:ext uri="{FF2B5EF4-FFF2-40B4-BE49-F238E27FC236}">
                <a16:creationId xmlns:a16="http://schemas.microsoft.com/office/drawing/2014/main" id="{8BD0DEF7-35FF-4F49-B9FF-17C643858B44}"/>
              </a:ext>
            </a:extLst>
          </p:cNvPr>
          <p:cNvSpPr>
            <a:spLocks noGrp="1"/>
          </p:cNvSpPr>
          <p:nvPr/>
        </p:nvSpPr>
        <p:spPr>
          <a:xfrm>
            <a:off x="9063038" y="990600"/>
            <a:ext cx="120015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2" name="accent-red">
            <a:extLst>
              <a:ext uri="{FF2B5EF4-FFF2-40B4-BE49-F238E27FC236}">
                <a16:creationId xmlns:a16="http://schemas.microsoft.com/office/drawing/2014/main" id="{775E1A9D-BBA4-4870-ABDB-56B5E12DA189}"/>
              </a:ext>
            </a:extLst>
          </p:cNvPr>
          <p:cNvSpPr>
            <a:spLocks noGrp="1"/>
          </p:cNvSpPr>
          <p:nvPr/>
        </p:nvSpPr>
        <p:spPr>
          <a:xfrm>
            <a:off x="10263188" y="990600"/>
            <a:ext cx="728663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3" name="photo-label">
            <a:extLst>
              <a:ext uri="{FF2B5EF4-FFF2-40B4-BE49-F238E27FC236}">
                <a16:creationId xmlns:a16="http://schemas.microsoft.com/office/drawing/2014/main" id="{C13BE063-001A-45CC-8B04-5E50D1637DE9}"/>
              </a:ext>
            </a:extLst>
          </p:cNvPr>
          <p:cNvSpPr>
            <a:spLocks noGrp="1"/>
          </p:cNvSpPr>
          <p:nvPr/>
        </p:nvSpPr>
        <p:spPr>
          <a:xfrm>
            <a:off x="6972300" y="1857375"/>
            <a:ext cx="375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14" name="photo-sub">
            <a:extLst>
              <a:ext uri="{FF2B5EF4-FFF2-40B4-BE49-F238E27FC236}">
                <a16:creationId xmlns:a16="http://schemas.microsoft.com/office/drawing/2014/main" id="{2A1C07B6-0A56-46DA-8E36-845A57B30BD1}"/>
              </a:ext>
            </a:extLst>
          </p:cNvPr>
          <p:cNvSpPr>
            <a:spLocks noGrp="1"/>
          </p:cNvSpPr>
          <p:nvPr/>
        </p:nvSpPr>
        <p:spPr>
          <a:xfrm>
            <a:off x="6972300" y="2219325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16" name="accent-gold">
            <a:extLst>
              <a:ext uri="{FF2B5EF4-FFF2-40B4-BE49-F238E27FC236}">
                <a16:creationId xmlns:a16="http://schemas.microsoft.com/office/drawing/2014/main" id="{DDA9DCA4-55E9-429A-9E8E-48721D5B2BB5}"/>
              </a:ext>
            </a:extLst>
          </p:cNvPr>
          <p:cNvSpPr>
            <a:spLocks noGrp="1"/>
          </p:cNvSpPr>
          <p:nvPr/>
        </p:nvSpPr>
        <p:spPr>
          <a:xfrm>
            <a:off x="6705600" y="3638550"/>
            <a:ext cx="2357438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7" name="accent-cyan">
            <a:extLst>
              <a:ext uri="{FF2B5EF4-FFF2-40B4-BE49-F238E27FC236}">
                <a16:creationId xmlns:a16="http://schemas.microsoft.com/office/drawing/2014/main" id="{BA1C76C5-ECC7-4F4D-AC1A-C4FA00DBE91E}"/>
              </a:ext>
            </a:extLst>
          </p:cNvPr>
          <p:cNvSpPr>
            <a:spLocks noGrp="1"/>
          </p:cNvSpPr>
          <p:nvPr/>
        </p:nvSpPr>
        <p:spPr>
          <a:xfrm>
            <a:off x="9063038" y="3638550"/>
            <a:ext cx="120015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8" name="accent-red">
            <a:extLst>
              <a:ext uri="{FF2B5EF4-FFF2-40B4-BE49-F238E27FC236}">
                <a16:creationId xmlns:a16="http://schemas.microsoft.com/office/drawing/2014/main" id="{BEB85BF9-78CA-4B3A-A1C1-FD5D31CC1352}"/>
              </a:ext>
            </a:extLst>
          </p:cNvPr>
          <p:cNvSpPr>
            <a:spLocks noGrp="1"/>
          </p:cNvSpPr>
          <p:nvPr/>
        </p:nvSpPr>
        <p:spPr>
          <a:xfrm>
            <a:off x="10263188" y="3638550"/>
            <a:ext cx="728663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9" name="photo-label">
            <a:extLst>
              <a:ext uri="{FF2B5EF4-FFF2-40B4-BE49-F238E27FC236}">
                <a16:creationId xmlns:a16="http://schemas.microsoft.com/office/drawing/2014/main" id="{CB39E489-4530-422B-B368-8F85E95D20FF}"/>
              </a:ext>
            </a:extLst>
          </p:cNvPr>
          <p:cNvSpPr>
            <a:spLocks noGrp="1"/>
          </p:cNvSpPr>
          <p:nvPr/>
        </p:nvSpPr>
        <p:spPr>
          <a:xfrm>
            <a:off x="6972300" y="4124325"/>
            <a:ext cx="3752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20" name="photo-sub">
            <a:extLst>
              <a:ext uri="{FF2B5EF4-FFF2-40B4-BE49-F238E27FC236}">
                <a16:creationId xmlns:a16="http://schemas.microsoft.com/office/drawing/2014/main" id="{9F34364D-420A-4DCE-A99C-C1266AD62006}"/>
              </a:ext>
            </a:extLst>
          </p:cNvPr>
          <p:cNvSpPr>
            <a:spLocks noGrp="1"/>
          </p:cNvSpPr>
          <p:nvPr/>
        </p:nvSpPr>
        <p:spPr>
          <a:xfrm>
            <a:off x="6972300" y="4486275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21" name="bullet-dot">
            <a:extLst>
              <a:ext uri="{FF2B5EF4-FFF2-40B4-BE49-F238E27FC236}">
                <a16:creationId xmlns:a16="http://schemas.microsoft.com/office/drawing/2014/main" id="{459729C6-921E-433A-9CD7-9DEB6DFE6E77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43A481BB-5D49-4842-B752-631F63A0F69C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на сайте собраны реальные приказы, постановления и стенограммы</a:t>
            </a:r>
          </a:p>
        </p:txBody>
      </p:sp>
      <p:sp>
        <p:nvSpPr>
          <p:cNvPr id="23" name="bullet-dot">
            <a:extLst>
              <a:ext uri="{FF2B5EF4-FFF2-40B4-BE49-F238E27FC236}">
                <a16:creationId xmlns:a16="http://schemas.microsoft.com/office/drawing/2014/main" id="{7FA83A66-5479-491E-9554-9A958CE4B915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532F006B-841A-46D1-8796-53D5DA67C154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документы показывают: успех не был случайностью</a:t>
            </a:r>
          </a:p>
        </p:txBody>
      </p:sp>
      <p:sp>
        <p:nvSpPr>
          <p:cNvPr id="25" name="bullet-dot">
            <a:extLst>
              <a:ext uri="{FF2B5EF4-FFF2-40B4-BE49-F238E27FC236}">
                <a16:creationId xmlns:a16="http://schemas.microsoft.com/office/drawing/2014/main" id="{9BA922B2-990C-4E21-9C39-F27A57986FB9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6" name="bullet">
            <a:extLst>
              <a:ext uri="{FF2B5EF4-FFF2-40B4-BE49-F238E27FC236}">
                <a16:creationId xmlns:a16="http://schemas.microsoft.com/office/drawing/2014/main" id="{AADCC692-EB60-4EE0-A5E3-9E843711AC79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единый центр координировал министерства, КБ и заводы</a:t>
            </a:r>
          </a:p>
        </p:txBody>
      </p:sp>
      <p:sp>
        <p:nvSpPr>
          <p:cNvPr id="27" name="bullet-dot">
            <a:extLst>
              <a:ext uri="{FF2B5EF4-FFF2-40B4-BE49-F238E27FC236}">
                <a16:creationId xmlns:a16="http://schemas.microsoft.com/office/drawing/2014/main" id="{3BC170AB-0D57-4216-8191-D41DED98DEBE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8" name="bullet">
            <a:extLst>
              <a:ext uri="{FF2B5EF4-FFF2-40B4-BE49-F238E27FC236}">
                <a16:creationId xmlns:a16="http://schemas.microsoft.com/office/drawing/2014/main" id="{C71DF9C7-9424-46C7-AACC-03687989BA1D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это кейс по госуправлению в условиях дефицита времени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F1C0EEB-46A6-78B6-4CAB-5C6941D39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415" y="1147901"/>
            <a:ext cx="3214619" cy="239539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876E5F1-7B92-E635-CC91-0478DF608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990" y="3691805"/>
            <a:ext cx="3214619" cy="241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47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op-glow">
            <a:extLst>
              <a:ext uri="{FF2B5EF4-FFF2-40B4-BE49-F238E27FC236}">
                <a16:creationId xmlns:a16="http://schemas.microsoft.com/office/drawing/2014/main" id="{24D95A09-A334-4E03-A7A6-F1C95DB2B9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</p:sp>
      <p:sp>
        <p:nvSpPr>
          <p:cNvPr id="2" name="right-band">
            <a:extLst>
              <a:ext uri="{FF2B5EF4-FFF2-40B4-BE49-F238E27FC236}">
                <a16:creationId xmlns:a16="http://schemas.microsoft.com/office/drawing/2014/main" id="{C15467E6-2B86-4637-AA21-291209B0EB52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B1222"/>
          </a:solidFill>
          <a:ln w="0">
            <a:noFill/>
            <a:prstDash val="solid"/>
          </a:ln>
        </p:spPr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C73A362C-88E2-4B85-83DC-E88F4A774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AA296E48-07F5-4846-83A7-3A9A6A4B0C1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F0C85A"/>
                </a:solidFill>
              </a:defRPr>
            </a:pPr>
            <a:r>
              <a:rPr sz="1125" b="1" i="0">
                <a:solidFill>
                  <a:srgbClr val="F0C85A"/>
                </a:solidFill>
              </a:rPr>
              <a:t>Первый отряд космонавтов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FC4D549-48AC-4C54-9D2C-4D4BD0BF671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4F7FB"/>
                </a:solidFill>
              </a:defRPr>
            </a:pPr>
            <a:r>
              <a:rPr sz="3150" b="1" i="0" dirty="0" err="1">
                <a:solidFill>
                  <a:srgbClr val="F4F7FB"/>
                </a:solidFill>
              </a:rPr>
              <a:t>Люди</a:t>
            </a:r>
            <a:r>
              <a:rPr sz="3150" b="1" i="0" dirty="0">
                <a:solidFill>
                  <a:srgbClr val="F4F7FB"/>
                </a:solidFill>
              </a:rPr>
              <a:t> </a:t>
            </a:r>
            <a:r>
              <a:rPr sz="3150" b="1" i="0" dirty="0" err="1">
                <a:solidFill>
                  <a:srgbClr val="F4F7FB"/>
                </a:solidFill>
              </a:rPr>
              <a:t>космического</a:t>
            </a:r>
            <a:r>
              <a:rPr sz="3150" b="1" i="0" dirty="0">
                <a:solidFill>
                  <a:srgbClr val="F4F7FB"/>
                </a:solidFill>
              </a:rPr>
              <a:t> </a:t>
            </a:r>
            <a:r>
              <a:rPr sz="3150" b="1" i="0" dirty="0" err="1">
                <a:solidFill>
                  <a:srgbClr val="F4F7FB"/>
                </a:solidFill>
              </a:rPr>
              <a:t>прорыва</a:t>
            </a:r>
            <a:endParaRPr sz="3150" b="1" i="0" dirty="0">
              <a:solidFill>
                <a:srgbClr val="F4F7FB"/>
              </a:solidFill>
            </a:endParaRP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AE817953-B62B-4598-9528-54813B3FE520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0FE785A-9664-4BE8-BDEA-FF2DC02DF9E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95E8385D-ADEB-430A-8557-E5078C83380A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05</a:t>
            </a:r>
          </a:p>
        </p:txBody>
      </p:sp>
      <p:sp>
        <p:nvSpPr>
          <p:cNvPr id="10" name="accent-gold">
            <a:extLst>
              <a:ext uri="{FF2B5EF4-FFF2-40B4-BE49-F238E27FC236}">
                <a16:creationId xmlns:a16="http://schemas.microsoft.com/office/drawing/2014/main" id="{A91818C5-BE1B-4BDD-ACBD-C45D76342A79}"/>
              </a:ext>
            </a:extLst>
          </p:cNvPr>
          <p:cNvSpPr>
            <a:spLocks noGrp="1"/>
          </p:cNvSpPr>
          <p:nvPr/>
        </p:nvSpPr>
        <p:spPr>
          <a:xfrm>
            <a:off x="6858000" y="990600"/>
            <a:ext cx="2252663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1" name="accent-cyan">
            <a:extLst>
              <a:ext uri="{FF2B5EF4-FFF2-40B4-BE49-F238E27FC236}">
                <a16:creationId xmlns:a16="http://schemas.microsoft.com/office/drawing/2014/main" id="{63E80C09-B29A-44F5-B7C2-7210BE3A7F3D}"/>
              </a:ext>
            </a:extLst>
          </p:cNvPr>
          <p:cNvSpPr>
            <a:spLocks noGrp="1"/>
          </p:cNvSpPr>
          <p:nvPr/>
        </p:nvSpPr>
        <p:spPr>
          <a:xfrm>
            <a:off x="9110663" y="990600"/>
            <a:ext cx="114681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2" name="accent-red">
            <a:extLst>
              <a:ext uri="{FF2B5EF4-FFF2-40B4-BE49-F238E27FC236}">
                <a16:creationId xmlns:a16="http://schemas.microsoft.com/office/drawing/2014/main" id="{92EDF754-CB1B-4379-A27B-744C2B078DC8}"/>
              </a:ext>
            </a:extLst>
          </p:cNvPr>
          <p:cNvSpPr>
            <a:spLocks noGrp="1"/>
          </p:cNvSpPr>
          <p:nvPr/>
        </p:nvSpPr>
        <p:spPr>
          <a:xfrm>
            <a:off x="10257473" y="990600"/>
            <a:ext cx="696278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3" name="photo-label">
            <a:extLst>
              <a:ext uri="{FF2B5EF4-FFF2-40B4-BE49-F238E27FC236}">
                <a16:creationId xmlns:a16="http://schemas.microsoft.com/office/drawing/2014/main" id="{6A053BA8-8C43-45D3-8AC3-31A704068CB4}"/>
              </a:ext>
            </a:extLst>
          </p:cNvPr>
          <p:cNvSpPr>
            <a:spLocks noGrp="1"/>
          </p:cNvSpPr>
          <p:nvPr/>
        </p:nvSpPr>
        <p:spPr>
          <a:xfrm>
            <a:off x="7124700" y="1857375"/>
            <a:ext cx="3562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14" name="photo-sub">
            <a:extLst>
              <a:ext uri="{FF2B5EF4-FFF2-40B4-BE49-F238E27FC236}">
                <a16:creationId xmlns:a16="http://schemas.microsoft.com/office/drawing/2014/main" id="{B7692933-1F85-4CDB-8A21-A3D6830592B7}"/>
              </a:ext>
            </a:extLst>
          </p:cNvPr>
          <p:cNvSpPr>
            <a:spLocks noGrp="1"/>
          </p:cNvSpPr>
          <p:nvPr/>
        </p:nvSpPr>
        <p:spPr>
          <a:xfrm>
            <a:off x="7124700" y="2219325"/>
            <a:ext cx="3562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16" name="accent-gold">
            <a:extLst>
              <a:ext uri="{FF2B5EF4-FFF2-40B4-BE49-F238E27FC236}">
                <a16:creationId xmlns:a16="http://schemas.microsoft.com/office/drawing/2014/main" id="{E35441D8-E8D6-49BD-9031-D6183A7C4DD4}"/>
              </a:ext>
            </a:extLst>
          </p:cNvPr>
          <p:cNvSpPr>
            <a:spLocks noGrp="1"/>
          </p:cNvSpPr>
          <p:nvPr/>
        </p:nvSpPr>
        <p:spPr>
          <a:xfrm>
            <a:off x="6858000" y="3638550"/>
            <a:ext cx="2252663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7" name="accent-cyan">
            <a:extLst>
              <a:ext uri="{FF2B5EF4-FFF2-40B4-BE49-F238E27FC236}">
                <a16:creationId xmlns:a16="http://schemas.microsoft.com/office/drawing/2014/main" id="{32247062-DF3A-4C78-831E-B56767D8A6FE}"/>
              </a:ext>
            </a:extLst>
          </p:cNvPr>
          <p:cNvSpPr>
            <a:spLocks noGrp="1"/>
          </p:cNvSpPr>
          <p:nvPr/>
        </p:nvSpPr>
        <p:spPr>
          <a:xfrm>
            <a:off x="9110663" y="3638550"/>
            <a:ext cx="114681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8" name="accent-red">
            <a:extLst>
              <a:ext uri="{FF2B5EF4-FFF2-40B4-BE49-F238E27FC236}">
                <a16:creationId xmlns:a16="http://schemas.microsoft.com/office/drawing/2014/main" id="{97AA21B8-A80F-4A40-A13D-975345A62896}"/>
              </a:ext>
            </a:extLst>
          </p:cNvPr>
          <p:cNvSpPr>
            <a:spLocks noGrp="1"/>
          </p:cNvSpPr>
          <p:nvPr/>
        </p:nvSpPr>
        <p:spPr>
          <a:xfrm>
            <a:off x="10257473" y="3638550"/>
            <a:ext cx="696278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9" name="photo-label">
            <a:extLst>
              <a:ext uri="{FF2B5EF4-FFF2-40B4-BE49-F238E27FC236}">
                <a16:creationId xmlns:a16="http://schemas.microsoft.com/office/drawing/2014/main" id="{5F9C4CA4-D191-4B03-B8CF-E4EB5A81F416}"/>
              </a:ext>
            </a:extLst>
          </p:cNvPr>
          <p:cNvSpPr>
            <a:spLocks noGrp="1"/>
          </p:cNvSpPr>
          <p:nvPr/>
        </p:nvSpPr>
        <p:spPr>
          <a:xfrm>
            <a:off x="7124700" y="4124325"/>
            <a:ext cx="3562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20" name="photo-sub">
            <a:extLst>
              <a:ext uri="{FF2B5EF4-FFF2-40B4-BE49-F238E27FC236}">
                <a16:creationId xmlns:a16="http://schemas.microsoft.com/office/drawing/2014/main" id="{6ACFF452-21B2-4FDB-B247-4009FB6D1551}"/>
              </a:ext>
            </a:extLst>
          </p:cNvPr>
          <p:cNvSpPr>
            <a:spLocks noGrp="1"/>
          </p:cNvSpPr>
          <p:nvPr/>
        </p:nvSpPr>
        <p:spPr>
          <a:xfrm>
            <a:off x="7124700" y="4486275"/>
            <a:ext cx="3562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21" name="bullet-dot">
            <a:extLst>
              <a:ext uri="{FF2B5EF4-FFF2-40B4-BE49-F238E27FC236}">
                <a16:creationId xmlns:a16="http://schemas.microsoft.com/office/drawing/2014/main" id="{9B1BA2A1-882B-483E-A6A9-D2C628DD809F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C95F1093-E0A7-4D51-9981-46832C593642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первые космонавты - результат строгого отбора по всей стране</a:t>
            </a:r>
          </a:p>
        </p:txBody>
      </p:sp>
      <p:sp>
        <p:nvSpPr>
          <p:cNvPr id="23" name="bullet-dot">
            <a:extLst>
              <a:ext uri="{FF2B5EF4-FFF2-40B4-BE49-F238E27FC236}">
                <a16:creationId xmlns:a16="http://schemas.microsoft.com/office/drawing/2014/main" id="{F7800ADD-E389-481F-97BB-073B24FFC374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315B3884-A39F-44F0-9C19-3B82F6FAB290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Гагарин стал символом страны и её возможностей</a:t>
            </a:r>
          </a:p>
        </p:txBody>
      </p:sp>
      <p:sp>
        <p:nvSpPr>
          <p:cNvPr id="25" name="bullet-dot">
            <a:extLst>
              <a:ext uri="{FF2B5EF4-FFF2-40B4-BE49-F238E27FC236}">
                <a16:creationId xmlns:a16="http://schemas.microsoft.com/office/drawing/2014/main" id="{B9CCE7FF-E024-41F4-8BB3-33A0E7D5EF66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6" name="bullet">
            <a:extLst>
              <a:ext uri="{FF2B5EF4-FFF2-40B4-BE49-F238E27FC236}">
                <a16:creationId xmlns:a16="http://schemas.microsoft.com/office/drawing/2014/main" id="{F8B46419-088D-4E64-A10A-B10FF99F0A55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космос показал социальный лифт и ценность образования</a:t>
            </a:r>
          </a:p>
        </p:txBody>
      </p:sp>
      <p:sp>
        <p:nvSpPr>
          <p:cNvPr id="27" name="bullet-dot">
            <a:extLst>
              <a:ext uri="{FF2B5EF4-FFF2-40B4-BE49-F238E27FC236}">
                <a16:creationId xmlns:a16="http://schemas.microsoft.com/office/drawing/2014/main" id="{D2B7D430-DB77-4F39-9182-3046FA3CDD13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8" name="bullet">
            <a:extLst>
              <a:ext uri="{FF2B5EF4-FFF2-40B4-BE49-F238E27FC236}">
                <a16:creationId xmlns:a16="http://schemas.microsoft.com/office/drawing/2014/main" id="{8B8FF120-90A8-49C4-8C82-19BE74C3D209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5124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за государственными решениями всегда стоят конкретные люди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2AD57DA8-BD54-F23E-2D7A-1265467DE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493" y="1154215"/>
            <a:ext cx="3398557" cy="2389085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4734E337-DED8-9322-D921-07E16F5ED4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899" y="3881970"/>
            <a:ext cx="3562350" cy="226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28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op-glow">
            <a:extLst>
              <a:ext uri="{FF2B5EF4-FFF2-40B4-BE49-F238E27FC236}">
                <a16:creationId xmlns:a16="http://schemas.microsoft.com/office/drawing/2014/main" id="{422E30DF-F1C5-47C2-B839-B787E1C90F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</p:sp>
      <p:sp>
        <p:nvSpPr>
          <p:cNvPr id="2" name="right-band">
            <a:extLst>
              <a:ext uri="{FF2B5EF4-FFF2-40B4-BE49-F238E27FC236}">
                <a16:creationId xmlns:a16="http://schemas.microsoft.com/office/drawing/2014/main" id="{D34CEB14-D747-46E1-AC32-8381B3ADC3DF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B1222"/>
          </a:solidFill>
          <a:ln w="0">
            <a:noFill/>
            <a:prstDash val="solid"/>
          </a:ln>
        </p:spPr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76E66152-8723-49EC-AAFB-E91623C28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eyebrow">
            <a:extLst>
              <a:ext uri="{FF2B5EF4-FFF2-40B4-BE49-F238E27FC236}">
                <a16:creationId xmlns:a16="http://schemas.microsoft.com/office/drawing/2014/main" id="{1DEB834B-F34B-434A-B076-28E1C9C949E8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F0C85A"/>
                </a:solidFill>
              </a:defRPr>
            </a:pPr>
            <a:r>
              <a:rPr sz="1125" b="1" i="0">
                <a:solidFill>
                  <a:srgbClr val="F0C85A"/>
                </a:solidFill>
              </a:rPr>
              <a:t>Космос не остался в прошлом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E4473D4-D152-429B-9385-F409448F7DF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4F7FB"/>
                </a:solidFill>
              </a:defRPr>
            </a:pPr>
            <a:r>
              <a:rPr sz="3150" b="1" i="0">
                <a:solidFill>
                  <a:srgbClr val="F4F7FB"/>
                </a:solidFill>
              </a:rPr>
              <a:t>Преемственность сегодня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7FA872E3-2D6C-4230-BCB4-7C172A823B38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AB11A51-7E55-41C2-9050-C3AED212BF2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8" name="page-number">
            <a:extLst>
              <a:ext uri="{FF2B5EF4-FFF2-40B4-BE49-F238E27FC236}">
                <a16:creationId xmlns:a16="http://schemas.microsoft.com/office/drawing/2014/main" id="{1B6A0EAE-35C8-4F07-9CB3-037654750993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06</a:t>
            </a:r>
          </a:p>
        </p:txBody>
      </p:sp>
      <p:sp>
        <p:nvSpPr>
          <p:cNvPr id="10" name="accent-gold">
            <a:extLst>
              <a:ext uri="{FF2B5EF4-FFF2-40B4-BE49-F238E27FC236}">
                <a16:creationId xmlns:a16="http://schemas.microsoft.com/office/drawing/2014/main" id="{856AF875-B79C-4485-9F5D-0DBCA5E0B449}"/>
              </a:ext>
            </a:extLst>
          </p:cNvPr>
          <p:cNvSpPr>
            <a:spLocks noGrp="1"/>
          </p:cNvSpPr>
          <p:nvPr/>
        </p:nvSpPr>
        <p:spPr>
          <a:xfrm>
            <a:off x="6629400" y="990600"/>
            <a:ext cx="2409825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1" name="accent-cyan">
            <a:extLst>
              <a:ext uri="{FF2B5EF4-FFF2-40B4-BE49-F238E27FC236}">
                <a16:creationId xmlns:a16="http://schemas.microsoft.com/office/drawing/2014/main" id="{3188C711-11EA-42C7-95B7-83765B0A3093}"/>
              </a:ext>
            </a:extLst>
          </p:cNvPr>
          <p:cNvSpPr>
            <a:spLocks noGrp="1"/>
          </p:cNvSpPr>
          <p:nvPr/>
        </p:nvSpPr>
        <p:spPr>
          <a:xfrm>
            <a:off x="9039225" y="990600"/>
            <a:ext cx="122682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2" name="accent-red">
            <a:extLst>
              <a:ext uri="{FF2B5EF4-FFF2-40B4-BE49-F238E27FC236}">
                <a16:creationId xmlns:a16="http://schemas.microsoft.com/office/drawing/2014/main" id="{1325BD66-828A-4353-81DB-7D8EFEE7577B}"/>
              </a:ext>
            </a:extLst>
          </p:cNvPr>
          <p:cNvSpPr>
            <a:spLocks noGrp="1"/>
          </p:cNvSpPr>
          <p:nvPr/>
        </p:nvSpPr>
        <p:spPr>
          <a:xfrm>
            <a:off x="10266045" y="990600"/>
            <a:ext cx="744855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3" name="photo-label">
            <a:extLst>
              <a:ext uri="{FF2B5EF4-FFF2-40B4-BE49-F238E27FC236}">
                <a16:creationId xmlns:a16="http://schemas.microsoft.com/office/drawing/2014/main" id="{780DE39B-9313-42A4-B264-2412EB61B758}"/>
              </a:ext>
            </a:extLst>
          </p:cNvPr>
          <p:cNvSpPr>
            <a:spLocks noGrp="1"/>
          </p:cNvSpPr>
          <p:nvPr/>
        </p:nvSpPr>
        <p:spPr>
          <a:xfrm>
            <a:off x="6896100" y="1809750"/>
            <a:ext cx="3848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14" name="photo-sub">
            <a:extLst>
              <a:ext uri="{FF2B5EF4-FFF2-40B4-BE49-F238E27FC236}">
                <a16:creationId xmlns:a16="http://schemas.microsoft.com/office/drawing/2014/main" id="{16C122BE-C361-43B5-ACE6-D5CBE03655DE}"/>
              </a:ext>
            </a:extLst>
          </p:cNvPr>
          <p:cNvSpPr>
            <a:spLocks noGrp="1"/>
          </p:cNvSpPr>
          <p:nvPr/>
        </p:nvSpPr>
        <p:spPr>
          <a:xfrm>
            <a:off x="6896100" y="2171700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19" name="photo-label">
            <a:extLst>
              <a:ext uri="{FF2B5EF4-FFF2-40B4-BE49-F238E27FC236}">
                <a16:creationId xmlns:a16="http://schemas.microsoft.com/office/drawing/2014/main" id="{E5EC96B6-1D35-4EFE-ADE7-782ADC6A69A4}"/>
              </a:ext>
            </a:extLst>
          </p:cNvPr>
          <p:cNvSpPr>
            <a:spLocks noGrp="1"/>
          </p:cNvSpPr>
          <p:nvPr/>
        </p:nvSpPr>
        <p:spPr>
          <a:xfrm>
            <a:off x="6896100" y="4076700"/>
            <a:ext cx="3848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20" name="photo-sub">
            <a:extLst>
              <a:ext uri="{FF2B5EF4-FFF2-40B4-BE49-F238E27FC236}">
                <a16:creationId xmlns:a16="http://schemas.microsoft.com/office/drawing/2014/main" id="{64CED0BA-FA77-4869-89DB-E0B6DCA005DE}"/>
              </a:ext>
            </a:extLst>
          </p:cNvPr>
          <p:cNvSpPr>
            <a:spLocks noGrp="1"/>
          </p:cNvSpPr>
          <p:nvPr/>
        </p:nvSpPr>
        <p:spPr>
          <a:xfrm>
            <a:off x="6896100" y="4438650"/>
            <a:ext cx="384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21" name="bullet-dot">
            <a:extLst>
              <a:ext uri="{FF2B5EF4-FFF2-40B4-BE49-F238E27FC236}">
                <a16:creationId xmlns:a16="http://schemas.microsoft.com/office/drawing/2014/main" id="{5A77C316-C49A-4725-9B25-A3E35E07BD3B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2" name="bullet">
            <a:extLst>
              <a:ext uri="{FF2B5EF4-FFF2-40B4-BE49-F238E27FC236}">
                <a16:creationId xmlns:a16="http://schemas.microsoft.com/office/drawing/2014/main" id="{D876502D-F0F5-47E6-B084-94AE455CDFC7}"/>
              </a:ext>
            </a:extLst>
          </p:cNvPr>
          <p:cNvSpPr>
            <a:spLocks noGrp="1"/>
          </p:cNvSpPr>
          <p:nvPr/>
        </p:nvSpPr>
        <p:spPr>
          <a:xfrm>
            <a:off x="1028700" y="209550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космическая история России продолжается</a:t>
            </a:r>
          </a:p>
        </p:txBody>
      </p:sp>
      <p:sp>
        <p:nvSpPr>
          <p:cNvPr id="23" name="bullet-dot">
            <a:extLst>
              <a:ext uri="{FF2B5EF4-FFF2-40B4-BE49-F238E27FC236}">
                <a16:creationId xmlns:a16="http://schemas.microsoft.com/office/drawing/2014/main" id="{4E0204A3-F0F0-41E3-9108-66DC06CCF14B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4" name="bullet">
            <a:extLst>
              <a:ext uri="{FF2B5EF4-FFF2-40B4-BE49-F238E27FC236}">
                <a16:creationId xmlns:a16="http://schemas.microsoft.com/office/drawing/2014/main" id="{2F52BEDC-9224-48D3-94CD-188D27438D9D}"/>
              </a:ext>
            </a:extLst>
          </p:cNvPr>
          <p:cNvSpPr>
            <a:spLocks noGrp="1"/>
          </p:cNvSpPr>
          <p:nvPr/>
        </p:nvSpPr>
        <p:spPr>
          <a:xfrm>
            <a:off x="1028700" y="26860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Восточный, орбитальная станция и спутниковые системы</a:t>
            </a:r>
          </a:p>
        </p:txBody>
      </p:sp>
      <p:sp>
        <p:nvSpPr>
          <p:cNvPr id="25" name="bullet-dot">
            <a:extLst>
              <a:ext uri="{FF2B5EF4-FFF2-40B4-BE49-F238E27FC236}">
                <a16:creationId xmlns:a16="http://schemas.microsoft.com/office/drawing/2014/main" id="{5C6AFE74-CA31-4ADC-9343-BB2D103A497D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6" name="bullet">
            <a:extLst>
              <a:ext uri="{FF2B5EF4-FFF2-40B4-BE49-F238E27FC236}">
                <a16:creationId xmlns:a16="http://schemas.microsoft.com/office/drawing/2014/main" id="{82AE1D75-1EC8-4D76-AE59-88EA504D68F5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космос связан с безопасностью, связью и научным развитием</a:t>
            </a:r>
          </a:p>
        </p:txBody>
      </p:sp>
      <p:sp>
        <p:nvSpPr>
          <p:cNvPr id="27" name="bullet-dot">
            <a:extLst>
              <a:ext uri="{FF2B5EF4-FFF2-40B4-BE49-F238E27FC236}">
                <a16:creationId xmlns:a16="http://schemas.microsoft.com/office/drawing/2014/main" id="{C278767A-1AA5-46FC-9DE2-8BC96D0AD6D7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0C85A"/>
                </a:solidFill>
              </a:defRPr>
            </a:pPr>
            <a:r>
              <a:rPr sz="1575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28" name="bullet">
            <a:extLst>
              <a:ext uri="{FF2B5EF4-FFF2-40B4-BE49-F238E27FC236}">
                <a16:creationId xmlns:a16="http://schemas.microsoft.com/office/drawing/2014/main" id="{EF73DA89-57AD-4D16-AAE6-187BDE96750C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502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F4F7FB"/>
                </a:solidFill>
              </a:defRPr>
            </a:pPr>
            <a:r>
              <a:rPr sz="1575" b="0" i="0">
                <a:solidFill>
                  <a:srgbClr val="F4F7FB"/>
                </a:solidFill>
              </a:rPr>
              <a:t>это часть современного суверенитета страны</a:t>
            </a:r>
          </a:p>
        </p:txBody>
      </p:sp>
      <p:pic>
        <p:nvPicPr>
          <p:cNvPr id="30" name="Рисунок 29" descr="Пуск ракеты-носителя «Союз-2.1б» с космодрома «Восточный»">
            <a:extLst>
              <a:ext uri="{FF2B5EF4-FFF2-40B4-BE49-F238E27FC236}">
                <a16:creationId xmlns:a16="http://schemas.microsoft.com/office/drawing/2014/main" id="{700DD318-A757-1DDD-43D7-3C1F53D10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557" y="1782429"/>
            <a:ext cx="3918362" cy="286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p-glow">
            <a:extLst>
              <a:ext uri="{FF2B5EF4-FFF2-40B4-BE49-F238E27FC236}">
                <a16:creationId xmlns:a16="http://schemas.microsoft.com/office/drawing/2014/main" id="{A8626905-2BC7-45D7-816C-4BEDB3EF36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814"/>
          </a:solidFill>
          <a:ln w="0">
            <a:noFill/>
            <a:prstDash val="solid"/>
          </a:ln>
        </p:spPr>
      </p:sp>
      <p:sp>
        <p:nvSpPr>
          <p:cNvPr id="2" name="right-band">
            <a:extLst>
              <a:ext uri="{FF2B5EF4-FFF2-40B4-BE49-F238E27FC236}">
                <a16:creationId xmlns:a16="http://schemas.microsoft.com/office/drawing/2014/main" id="{31C05780-78E5-42F6-BECC-0E070A0BD070}"/>
              </a:ext>
            </a:extLst>
          </p:cNvPr>
          <p:cNvSpPr>
            <a:spLocks noGrp="1"/>
          </p:cNvSpPr>
          <p:nvPr/>
        </p:nvSpPr>
        <p:spPr>
          <a:xfrm>
            <a:off x="9525000" y="0"/>
            <a:ext cx="2667000" cy="6858000"/>
          </a:xfrm>
          <a:prstGeom prst="rect">
            <a:avLst/>
          </a:prstGeom>
          <a:solidFill>
            <a:srgbClr val="0B1222"/>
          </a:solidFill>
          <a:ln w="0">
            <a:noFill/>
            <a:prstDash val="solid"/>
          </a:ln>
        </p:spPr>
      </p:sp>
      <p:sp>
        <p:nvSpPr>
          <p:cNvPr id="3" name="gold-thread">
            <a:extLst>
              <a:ext uri="{FF2B5EF4-FFF2-40B4-BE49-F238E27FC236}">
                <a16:creationId xmlns:a16="http://schemas.microsoft.com/office/drawing/2014/main" id="{99F21AC0-BF67-419B-BAFB-1F530C22E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4" name="final-title">
            <a:extLst>
              <a:ext uri="{FF2B5EF4-FFF2-40B4-BE49-F238E27FC236}">
                <a16:creationId xmlns:a16="http://schemas.microsoft.com/office/drawing/2014/main" id="{B0A4E3BA-08CF-44B4-8CCF-0D8299FFFA0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647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 i="0">
                <a:solidFill>
                  <a:srgbClr val="F4F7FB"/>
                </a:solidFill>
              </a:defRPr>
            </a:pPr>
            <a:r>
              <a:rPr sz="3750" b="1" i="0">
                <a:solidFill>
                  <a:srgbClr val="F4F7FB"/>
                </a:solidFill>
              </a:rPr>
              <a:t>Итог проекта</a:t>
            </a:r>
          </a:p>
        </p:txBody>
      </p:sp>
      <p:sp>
        <p:nvSpPr>
          <p:cNvPr id="5" name="final-subtitle">
            <a:extLst>
              <a:ext uri="{FF2B5EF4-FFF2-40B4-BE49-F238E27FC236}">
                <a16:creationId xmlns:a16="http://schemas.microsoft.com/office/drawing/2014/main" id="{61928402-B805-4994-B0BA-1B5DD013AAA2}"/>
              </a:ext>
            </a:extLst>
          </p:cNvPr>
          <p:cNvSpPr>
            <a:spLocks noGrp="1"/>
          </p:cNvSpPr>
          <p:nvPr/>
        </p:nvSpPr>
        <p:spPr>
          <a:xfrm>
            <a:off x="723900" y="15621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B8C3D7"/>
                </a:solidFill>
              </a:defRPr>
            </a:pPr>
            <a:r>
              <a:rPr sz="1800" b="0" i="0">
                <a:solidFill>
                  <a:srgbClr val="B8C3D7"/>
                </a:solidFill>
              </a:rPr>
              <a:t>Мы сделали не просто доклад, а образовательный цифровой продукт</a:t>
            </a:r>
          </a:p>
        </p:txBody>
      </p:sp>
      <p:sp>
        <p:nvSpPr>
          <p:cNvPr id="6" name="bullet-dot">
            <a:extLst>
              <a:ext uri="{FF2B5EF4-FFF2-40B4-BE49-F238E27FC236}">
                <a16:creationId xmlns:a16="http://schemas.microsoft.com/office/drawing/2014/main" id="{58B3EE85-0831-44FF-97A0-7656204F5AEE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7" name="bullet">
            <a:extLst>
              <a:ext uri="{FF2B5EF4-FFF2-40B4-BE49-F238E27FC236}">
                <a16:creationId xmlns:a16="http://schemas.microsoft.com/office/drawing/2014/main" id="{DF528477-23B3-42F6-8788-B7E7423E6AB2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560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F4F7FB"/>
                </a:solidFill>
              </a:defRPr>
            </a:pPr>
            <a:r>
              <a:rPr sz="1650" b="0" i="0">
                <a:solidFill>
                  <a:srgbClr val="F4F7FB"/>
                </a:solidFill>
              </a:rPr>
              <a:t>сайт помогает изучать историю через разделы, документы и биографии</a:t>
            </a:r>
          </a:p>
        </p:txBody>
      </p:sp>
      <p:sp>
        <p:nvSpPr>
          <p:cNvPr id="8" name="bullet-dot">
            <a:extLst>
              <a:ext uri="{FF2B5EF4-FFF2-40B4-BE49-F238E27FC236}">
                <a16:creationId xmlns:a16="http://schemas.microsoft.com/office/drawing/2014/main" id="{DFE55E78-759A-426A-93A2-FAC30945150E}"/>
              </a:ext>
            </a:extLst>
          </p:cNvPr>
          <p:cNvSpPr>
            <a:spLocks noGrp="1"/>
          </p:cNvSpPr>
          <p:nvPr/>
        </p:nvSpPr>
        <p:spPr>
          <a:xfrm>
            <a:off x="762000" y="30670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9" name="bullet">
            <a:extLst>
              <a:ext uri="{FF2B5EF4-FFF2-40B4-BE49-F238E27FC236}">
                <a16:creationId xmlns:a16="http://schemas.microsoft.com/office/drawing/2014/main" id="{8976044C-FE05-4848-AAD2-B09AFA5D32B4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560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F4F7FB"/>
                </a:solidFill>
              </a:defRPr>
            </a:pPr>
            <a:r>
              <a:rPr sz="1650" b="0" i="0">
                <a:solidFill>
                  <a:srgbClr val="F4F7FB"/>
                </a:solidFill>
              </a:rPr>
              <a:t>проект показывает связь космоса с государственностью</a:t>
            </a:r>
          </a:p>
        </p:txBody>
      </p:sp>
      <p:sp>
        <p:nvSpPr>
          <p:cNvPr id="10" name="bullet-dot">
            <a:extLst>
              <a:ext uri="{FF2B5EF4-FFF2-40B4-BE49-F238E27FC236}">
                <a16:creationId xmlns:a16="http://schemas.microsoft.com/office/drawing/2014/main" id="{75A07B2D-5340-4C98-8E92-A4E908413838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228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0C85A"/>
                </a:solidFill>
              </a:defRPr>
            </a:pPr>
            <a:r>
              <a:rPr sz="1650" b="1" i="0">
                <a:solidFill>
                  <a:srgbClr val="F0C85A"/>
                </a:solidFill>
              </a:rPr>
              <a:t>•</a:t>
            </a:r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2B4BF2EB-FBBE-4FDC-A2B7-0DAD34E4AD12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560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F4F7FB"/>
                </a:solidFill>
              </a:defRPr>
            </a:pPr>
            <a:r>
              <a:rPr sz="1650" b="0" i="0">
                <a:solidFill>
                  <a:srgbClr val="F4F7FB"/>
                </a:solidFill>
              </a:rPr>
              <a:t>материалы можно открыть и изучать самостоятельно</a:t>
            </a:r>
          </a:p>
        </p:txBody>
      </p:sp>
      <p:sp>
        <p:nvSpPr>
          <p:cNvPr id="13" name="accent-gold">
            <a:extLst>
              <a:ext uri="{FF2B5EF4-FFF2-40B4-BE49-F238E27FC236}">
                <a16:creationId xmlns:a16="http://schemas.microsoft.com/office/drawing/2014/main" id="{7EEFB1B4-DF16-43CB-A08A-D4B5CB9FEF94}"/>
              </a:ext>
            </a:extLst>
          </p:cNvPr>
          <p:cNvSpPr>
            <a:spLocks noGrp="1"/>
          </p:cNvSpPr>
          <p:nvPr/>
        </p:nvSpPr>
        <p:spPr>
          <a:xfrm>
            <a:off x="7667625" y="1428750"/>
            <a:ext cx="1362075" cy="38100"/>
          </a:xfrm>
          <a:prstGeom prst="rect">
            <a:avLst/>
          </a:prstGeom>
          <a:solidFill>
            <a:srgbClr val="F0C85A"/>
          </a:solidFill>
          <a:ln w="0">
            <a:noFill/>
            <a:prstDash val="solid"/>
          </a:ln>
        </p:spPr>
      </p:sp>
      <p:sp>
        <p:nvSpPr>
          <p:cNvPr id="14" name="accent-cyan">
            <a:extLst>
              <a:ext uri="{FF2B5EF4-FFF2-40B4-BE49-F238E27FC236}">
                <a16:creationId xmlns:a16="http://schemas.microsoft.com/office/drawing/2014/main" id="{471296D5-3A1E-4365-9C6D-9932C4914FDF}"/>
              </a:ext>
            </a:extLst>
          </p:cNvPr>
          <p:cNvSpPr>
            <a:spLocks noGrp="1"/>
          </p:cNvSpPr>
          <p:nvPr/>
        </p:nvSpPr>
        <p:spPr>
          <a:xfrm>
            <a:off x="9029700" y="1428750"/>
            <a:ext cx="693420" cy="38100"/>
          </a:xfrm>
          <a:prstGeom prst="rect">
            <a:avLst/>
          </a:prstGeom>
          <a:solidFill>
            <a:srgbClr val="65D5FF"/>
          </a:solidFill>
          <a:ln w="0">
            <a:noFill/>
            <a:prstDash val="solid"/>
          </a:ln>
        </p:spPr>
      </p:sp>
      <p:sp>
        <p:nvSpPr>
          <p:cNvPr id="15" name="accent-red">
            <a:extLst>
              <a:ext uri="{FF2B5EF4-FFF2-40B4-BE49-F238E27FC236}">
                <a16:creationId xmlns:a16="http://schemas.microsoft.com/office/drawing/2014/main" id="{809862B1-E428-4DAB-BD5B-23757B315DAA}"/>
              </a:ext>
            </a:extLst>
          </p:cNvPr>
          <p:cNvSpPr>
            <a:spLocks noGrp="1"/>
          </p:cNvSpPr>
          <p:nvPr/>
        </p:nvSpPr>
        <p:spPr>
          <a:xfrm>
            <a:off x="9723120" y="1428750"/>
            <a:ext cx="421005" cy="38100"/>
          </a:xfrm>
          <a:prstGeom prst="rect">
            <a:avLst/>
          </a:prstGeom>
          <a:solidFill>
            <a:srgbClr val="E85D5D"/>
          </a:solidFill>
          <a:ln w="0">
            <a:noFill/>
            <a:prstDash val="solid"/>
          </a:ln>
        </p:spPr>
      </p:sp>
      <p:sp>
        <p:nvSpPr>
          <p:cNvPr id="16" name="photo-label">
            <a:extLst>
              <a:ext uri="{FF2B5EF4-FFF2-40B4-BE49-F238E27FC236}">
                <a16:creationId xmlns:a16="http://schemas.microsoft.com/office/drawing/2014/main" id="{F6A29083-5A75-4F6C-918D-525FE37D33B6}"/>
              </a:ext>
            </a:extLst>
          </p:cNvPr>
          <p:cNvSpPr>
            <a:spLocks noGrp="1"/>
          </p:cNvSpPr>
          <p:nvPr/>
        </p:nvSpPr>
        <p:spPr>
          <a:xfrm>
            <a:off x="7934325" y="234315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 i="0">
                <a:solidFill>
                  <a:srgbClr val="F4F7FB"/>
                </a:solidFill>
              </a:defRPr>
            </a:pPr>
            <a:endParaRPr sz="1725" b="1" i="0" dirty="0">
              <a:solidFill>
                <a:srgbClr val="F4F7FB"/>
              </a:solidFill>
            </a:endParaRPr>
          </a:p>
        </p:txBody>
      </p:sp>
      <p:sp>
        <p:nvSpPr>
          <p:cNvPr id="17" name="photo-sub">
            <a:extLst>
              <a:ext uri="{FF2B5EF4-FFF2-40B4-BE49-F238E27FC236}">
                <a16:creationId xmlns:a16="http://schemas.microsoft.com/office/drawing/2014/main" id="{61BE845B-5B31-4304-A289-B54E5FEEE30D}"/>
              </a:ext>
            </a:extLst>
          </p:cNvPr>
          <p:cNvSpPr>
            <a:spLocks noGrp="1"/>
          </p:cNvSpPr>
          <p:nvPr/>
        </p:nvSpPr>
        <p:spPr>
          <a:xfrm>
            <a:off x="7934325" y="27051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 i="0">
                <a:solidFill>
                  <a:srgbClr val="B8C3D7"/>
                </a:solidFill>
              </a:defRPr>
            </a:pPr>
            <a:endParaRPr sz="1125" b="0" i="0" dirty="0">
              <a:solidFill>
                <a:srgbClr val="B8C3D7"/>
              </a:solidFill>
            </a:endParaRPr>
          </a:p>
        </p:txBody>
      </p:sp>
      <p:sp>
        <p:nvSpPr>
          <p:cNvPr id="18" name="thanks">
            <a:extLst>
              <a:ext uri="{FF2B5EF4-FFF2-40B4-BE49-F238E27FC236}">
                <a16:creationId xmlns:a16="http://schemas.microsoft.com/office/drawing/2014/main" id="{00A6B612-2886-42A0-8E87-42E07BD7EDD4}"/>
              </a:ext>
            </a:extLst>
          </p:cNvPr>
          <p:cNvSpPr>
            <a:spLocks noGrp="1"/>
          </p:cNvSpPr>
          <p:nvPr/>
        </p:nvSpPr>
        <p:spPr>
          <a:xfrm>
            <a:off x="7429500" y="4663439"/>
            <a:ext cx="3143250" cy="89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 i="0">
                <a:solidFill>
                  <a:srgbClr val="F0C85A"/>
                </a:solidFill>
              </a:defRPr>
            </a:pPr>
            <a:r>
              <a:rPr sz="2250" b="1" i="0" dirty="0" err="1">
                <a:solidFill>
                  <a:srgbClr val="F0C85A"/>
                </a:solidFill>
              </a:rPr>
              <a:t>Спасибо</a:t>
            </a:r>
            <a:r>
              <a:rPr sz="2250" b="1" i="0" dirty="0">
                <a:solidFill>
                  <a:srgbClr val="F0C85A"/>
                </a:solidFill>
              </a:rPr>
              <a:t> </a:t>
            </a:r>
            <a:r>
              <a:rPr sz="2250" b="1" i="0" dirty="0" err="1">
                <a:solidFill>
                  <a:srgbClr val="F0C85A"/>
                </a:solidFill>
              </a:rPr>
              <a:t>за</a:t>
            </a:r>
            <a:r>
              <a:rPr sz="2250" b="1" i="0" dirty="0">
                <a:solidFill>
                  <a:srgbClr val="F0C85A"/>
                </a:solidFill>
              </a:rPr>
              <a:t> </a:t>
            </a:r>
            <a:r>
              <a:rPr sz="2250" b="1" i="0" dirty="0" err="1">
                <a:solidFill>
                  <a:srgbClr val="F0C85A"/>
                </a:solidFill>
              </a:rPr>
              <a:t>внимание</a:t>
            </a:r>
            <a:r>
              <a:rPr sz="2250" b="1" i="0" dirty="0">
                <a:solidFill>
                  <a:srgbClr val="F0C85A"/>
                </a:solidFill>
              </a:rPr>
              <a:t>!</a:t>
            </a:r>
          </a:p>
        </p:txBody>
      </p:sp>
      <p:sp>
        <p:nvSpPr>
          <p:cNvPr id="19" name="questions">
            <a:extLst>
              <a:ext uri="{FF2B5EF4-FFF2-40B4-BE49-F238E27FC236}">
                <a16:creationId xmlns:a16="http://schemas.microsoft.com/office/drawing/2014/main" id="{DFE3A995-CA8F-4EB9-AEB3-0483F6B5EA1C}"/>
              </a:ext>
            </a:extLst>
          </p:cNvPr>
          <p:cNvSpPr>
            <a:spLocks noGrp="1"/>
          </p:cNvSpPr>
          <p:nvPr/>
        </p:nvSpPr>
        <p:spPr>
          <a:xfrm>
            <a:off x="7381875" y="508635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B8C3D7"/>
                </a:solidFill>
              </a:defRPr>
            </a:pPr>
            <a:r>
              <a:rPr sz="1350" b="0" i="0" dirty="0" err="1">
                <a:solidFill>
                  <a:srgbClr val="B8C3D7"/>
                </a:solidFill>
              </a:rPr>
              <a:t>Готовы</a:t>
            </a:r>
            <a:r>
              <a:rPr sz="1350" b="0" i="0" dirty="0">
                <a:solidFill>
                  <a:srgbClr val="B8C3D7"/>
                </a:solidFill>
              </a:rPr>
              <a:t> </a:t>
            </a:r>
            <a:r>
              <a:rPr sz="1350" b="0" i="0" dirty="0" err="1">
                <a:solidFill>
                  <a:srgbClr val="B8C3D7"/>
                </a:solidFill>
              </a:rPr>
              <a:t>ответить</a:t>
            </a:r>
            <a:r>
              <a:rPr sz="1350" b="0" i="0" dirty="0">
                <a:solidFill>
                  <a:srgbClr val="B8C3D7"/>
                </a:solidFill>
              </a:rPr>
              <a:t> </a:t>
            </a:r>
            <a:r>
              <a:rPr sz="1350" b="0" i="0" dirty="0" err="1">
                <a:solidFill>
                  <a:srgbClr val="B8C3D7"/>
                </a:solidFill>
              </a:rPr>
              <a:t>на</a:t>
            </a:r>
            <a:r>
              <a:rPr sz="1350" b="0" i="0" dirty="0">
                <a:solidFill>
                  <a:srgbClr val="B8C3D7"/>
                </a:solidFill>
              </a:rPr>
              <a:t> </a:t>
            </a:r>
            <a:r>
              <a:rPr sz="1350" b="0" i="0" dirty="0" err="1">
                <a:solidFill>
                  <a:srgbClr val="B8C3D7"/>
                </a:solidFill>
              </a:rPr>
              <a:t>вопросы</a:t>
            </a:r>
            <a:endParaRPr sz="1350" b="0" i="0" dirty="0">
              <a:solidFill>
                <a:srgbClr val="B8C3D7"/>
              </a:solidFill>
            </a:endParaRPr>
          </a:p>
        </p:txBody>
      </p:sp>
      <p:sp>
        <p:nvSpPr>
          <p:cNvPr id="20" name="rule">
            <a:extLst>
              <a:ext uri="{FF2B5EF4-FFF2-40B4-BE49-F238E27FC236}">
                <a16:creationId xmlns:a16="http://schemas.microsoft.com/office/drawing/2014/main" id="{59E60F37-4793-4E39-9D04-9A2DB0E7E1EF}"/>
              </a:ext>
            </a:extLst>
          </p:cNvPr>
          <p:cNvSpPr>
            <a:spLocks noGrp="1"/>
          </p:cNvSpPr>
          <p:nvPr/>
        </p:nvSpPr>
        <p:spPr>
          <a:xfrm>
            <a:off x="685800" y="6229350"/>
            <a:ext cx="10820400" cy="19050"/>
          </a:xfrm>
          <a:prstGeom prst="rect">
            <a:avLst/>
          </a:prstGeom>
          <a:solidFill>
            <a:srgbClr val="2A3654"/>
          </a:solidFill>
          <a:ln w="0">
            <a:noFill/>
            <a:prstDash val="solid"/>
          </a:ln>
        </p:spPr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6836A108-C7A5-4114-82B7-BA8A26E67C5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 i="0">
                <a:solidFill>
                  <a:srgbClr val="B8C3D7"/>
                </a:solidFill>
              </a:defRPr>
            </a:pPr>
            <a:r>
              <a:rPr sz="1050" b="0" i="0">
                <a:solidFill>
                  <a:srgbClr val="B8C3D7"/>
                </a:solidFill>
              </a:rPr>
              <a:t>Цифровой музей | День космонавтики</a:t>
            </a:r>
          </a:p>
        </p:txBody>
      </p:sp>
      <p:sp>
        <p:nvSpPr>
          <p:cNvPr id="22" name="page-number">
            <a:extLst>
              <a:ext uri="{FF2B5EF4-FFF2-40B4-BE49-F238E27FC236}">
                <a16:creationId xmlns:a16="http://schemas.microsoft.com/office/drawing/2014/main" id="{28091B58-0110-4C4B-B1CB-98D7AA5670F3}"/>
              </a:ext>
            </a:extLst>
          </p:cNvPr>
          <p:cNvSpPr>
            <a:spLocks noGrp="1"/>
          </p:cNvSpPr>
          <p:nvPr/>
        </p:nvSpPr>
        <p:spPr>
          <a:xfrm>
            <a:off x="10820400" y="634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 i="0">
                <a:solidFill>
                  <a:srgbClr val="F0C85A"/>
                </a:solidFill>
              </a:defRPr>
            </a:pPr>
            <a:r>
              <a:rPr sz="1350" b="1" i="0">
                <a:solidFill>
                  <a:srgbClr val="F0C85A"/>
                </a:solidFill>
              </a:rPr>
              <a:t>07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4729068-52EE-0688-0B0B-AA7251181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974" y="1638300"/>
            <a:ext cx="2968625" cy="296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600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DocSecurity>0</DocSecurity>
  <PresentationFormat>Широкоэкранный</PresentationFormat>
  <Paragraphs>112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9" baseType="lpstr"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сергей Истомин</cp:lastModifiedBy>
  <cp:revision>1</cp:revision>
  <dcterms:created xsi:type="dcterms:W3CDTF">2026-06-26T11:45:00Z</dcterms:created>
  <dcterms:modified xsi:type="dcterms:W3CDTF">2026-06-26T12:42:15Z</dcterms:modified>
</cp:coreProperties>
</file>